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7" r:id="rId4"/>
    <p:sldMasterId id="2147483688" r:id="rId5"/>
  </p:sldMasterIdLst>
  <p:notesMasterIdLst>
    <p:notesMasterId r:id="rId46"/>
  </p:notesMasterIdLst>
  <p:sldIdLst>
    <p:sldId id="256" r:id="rId6"/>
    <p:sldId id="304" r:id="rId7"/>
    <p:sldId id="269" r:id="rId8"/>
    <p:sldId id="291" r:id="rId9"/>
    <p:sldId id="302" r:id="rId10"/>
    <p:sldId id="258" r:id="rId11"/>
    <p:sldId id="301" r:id="rId12"/>
    <p:sldId id="286" r:id="rId13"/>
    <p:sldId id="288" r:id="rId14"/>
    <p:sldId id="276" r:id="rId15"/>
    <p:sldId id="292" r:id="rId16"/>
    <p:sldId id="293" r:id="rId17"/>
    <p:sldId id="270" r:id="rId18"/>
    <p:sldId id="277" r:id="rId19"/>
    <p:sldId id="278" r:id="rId20"/>
    <p:sldId id="272" r:id="rId21"/>
    <p:sldId id="273" r:id="rId22"/>
    <p:sldId id="274" r:id="rId23"/>
    <p:sldId id="279" r:id="rId24"/>
    <p:sldId id="264" r:id="rId25"/>
    <p:sldId id="284" r:id="rId26"/>
    <p:sldId id="294" r:id="rId27"/>
    <p:sldId id="260" r:id="rId28"/>
    <p:sldId id="289" r:id="rId29"/>
    <p:sldId id="265" r:id="rId30"/>
    <p:sldId id="266" r:id="rId31"/>
    <p:sldId id="303" r:id="rId32"/>
    <p:sldId id="295" r:id="rId33"/>
    <p:sldId id="297" r:id="rId34"/>
    <p:sldId id="296" r:id="rId35"/>
    <p:sldId id="298" r:id="rId36"/>
    <p:sldId id="310" r:id="rId37"/>
    <p:sldId id="299" r:id="rId38"/>
    <p:sldId id="300" r:id="rId39"/>
    <p:sldId id="306" r:id="rId40"/>
    <p:sldId id="307" r:id="rId41"/>
    <p:sldId id="308" r:id="rId42"/>
    <p:sldId id="309" r:id="rId43"/>
    <p:sldId id="311" r:id="rId44"/>
    <p:sldId id="312" r:id="rId4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3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a:extLst>
            <a:ext uri="{FF2B5EF4-FFF2-40B4-BE49-F238E27FC236}">
              <a16:creationId xmlns:a16="http://schemas.microsoft.com/office/drawing/2014/main" id="{75617C43-1677-5765-ED10-B9CE4051AD78}"/>
            </a:ext>
          </a:extLst>
        </p:cNvPr>
        <p:cNvGrpSpPr/>
        <p:nvPr/>
      </p:nvGrpSpPr>
      <p:grpSpPr>
        <a:xfrm>
          <a:off x="0" y="0"/>
          <a:ext cx="0" cy="0"/>
          <a:chOff x="0" y="0"/>
          <a:chExt cx="0" cy="0"/>
        </a:xfrm>
      </p:grpSpPr>
      <p:sp>
        <p:nvSpPr>
          <p:cNvPr id="1032" name="Google Shape;1032;p2:notes">
            <a:extLst>
              <a:ext uri="{FF2B5EF4-FFF2-40B4-BE49-F238E27FC236}">
                <a16:creationId xmlns:a16="http://schemas.microsoft.com/office/drawing/2014/main" id="{0367CC7E-2179-C423-4B43-0C1503C3601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3" name="Google Shape;1033;p2:notes">
            <a:extLst>
              <a:ext uri="{FF2B5EF4-FFF2-40B4-BE49-F238E27FC236}">
                <a16:creationId xmlns:a16="http://schemas.microsoft.com/office/drawing/2014/main" id="{FE2DE71C-C1E5-137C-5CFB-C5AE5A25FA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32222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a:extLst>
            <a:ext uri="{FF2B5EF4-FFF2-40B4-BE49-F238E27FC236}">
              <a16:creationId xmlns:a16="http://schemas.microsoft.com/office/drawing/2014/main" id="{1B425561-2A5C-F68D-88DA-DE2B0070E09B}"/>
            </a:ext>
          </a:extLst>
        </p:cNvPr>
        <p:cNvGrpSpPr/>
        <p:nvPr/>
      </p:nvGrpSpPr>
      <p:grpSpPr>
        <a:xfrm>
          <a:off x="0" y="0"/>
          <a:ext cx="0" cy="0"/>
          <a:chOff x="0" y="0"/>
          <a:chExt cx="0" cy="0"/>
        </a:xfrm>
      </p:grpSpPr>
      <p:sp>
        <p:nvSpPr>
          <p:cNvPr id="1032" name="Google Shape;1032;p2:notes">
            <a:extLst>
              <a:ext uri="{FF2B5EF4-FFF2-40B4-BE49-F238E27FC236}">
                <a16:creationId xmlns:a16="http://schemas.microsoft.com/office/drawing/2014/main" id="{C6E19E3E-C414-0B2A-1D73-6FC1322E93D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3" name="Google Shape;1033;p2:notes">
            <a:extLst>
              <a:ext uri="{FF2B5EF4-FFF2-40B4-BE49-F238E27FC236}">
                <a16:creationId xmlns:a16="http://schemas.microsoft.com/office/drawing/2014/main" id="{60C56114-6695-7D28-496D-E23F431A68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53088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a:extLst>
            <a:ext uri="{FF2B5EF4-FFF2-40B4-BE49-F238E27FC236}">
              <a16:creationId xmlns:a16="http://schemas.microsoft.com/office/drawing/2014/main" id="{499A0094-F5A4-52B2-ECE8-CA2723D482CC}"/>
            </a:ext>
          </a:extLst>
        </p:cNvPr>
        <p:cNvGrpSpPr/>
        <p:nvPr/>
      </p:nvGrpSpPr>
      <p:grpSpPr>
        <a:xfrm>
          <a:off x="0" y="0"/>
          <a:ext cx="0" cy="0"/>
          <a:chOff x="0" y="0"/>
          <a:chExt cx="0" cy="0"/>
        </a:xfrm>
      </p:grpSpPr>
      <p:sp>
        <p:nvSpPr>
          <p:cNvPr id="1032" name="Google Shape;1032;p2:notes">
            <a:extLst>
              <a:ext uri="{FF2B5EF4-FFF2-40B4-BE49-F238E27FC236}">
                <a16:creationId xmlns:a16="http://schemas.microsoft.com/office/drawing/2014/main" id="{BD862174-EAC6-9057-B980-D3B29ED32A0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3" name="Google Shape;1033;p2:notes">
            <a:extLst>
              <a:ext uri="{FF2B5EF4-FFF2-40B4-BE49-F238E27FC236}">
                <a16:creationId xmlns:a16="http://schemas.microsoft.com/office/drawing/2014/main" id="{2AE346E6-9625-59FB-5C13-6A5CDDAC18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57387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193A7C88-84A9-60B1-AA94-B9F79D3DA11A}"/>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5B4A4682-A1A9-F4EE-03A0-E0431E5E819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46A5A532-8B01-353D-E77C-0852CF3A87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90260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C64D1AF7-780B-6BC6-6FEB-7B586BFB6EAE}"/>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A461E3DC-13BB-8F62-EC84-1925C3D13A6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A4921C58-AFB7-ABE5-53CF-F12B2DC08B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80263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870BE7AB-5480-3F6F-CFE3-9A03799EE0DE}"/>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9AE3843D-FD70-C9C2-0973-DDAF2484E27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819F6F10-238B-461B-3EC2-B0740AF4B8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84888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2CB78E50-8636-D0D2-06D4-554D2712CFA9}"/>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618ECF7E-D036-6761-4370-FB9375D654D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6462EEBF-2E70-FDBE-BB73-237611A481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06887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a:extLst>
            <a:ext uri="{FF2B5EF4-FFF2-40B4-BE49-F238E27FC236}">
              <a16:creationId xmlns:a16="http://schemas.microsoft.com/office/drawing/2014/main" id="{BAF5303A-84A8-756D-3A03-4DB62E7BC766}"/>
            </a:ext>
          </a:extLst>
        </p:cNvPr>
        <p:cNvGrpSpPr/>
        <p:nvPr/>
      </p:nvGrpSpPr>
      <p:grpSpPr>
        <a:xfrm>
          <a:off x="0" y="0"/>
          <a:ext cx="0" cy="0"/>
          <a:chOff x="0" y="0"/>
          <a:chExt cx="0" cy="0"/>
        </a:xfrm>
      </p:grpSpPr>
      <p:sp>
        <p:nvSpPr>
          <p:cNvPr id="1056" name="Google Shape;1056;p6:notes">
            <a:extLst>
              <a:ext uri="{FF2B5EF4-FFF2-40B4-BE49-F238E27FC236}">
                <a16:creationId xmlns:a16="http://schemas.microsoft.com/office/drawing/2014/main" id="{3CFE6AA1-B075-0B7B-DB46-D7E656FB510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7" name="Google Shape;1057;p6:notes">
            <a:extLst>
              <a:ext uri="{FF2B5EF4-FFF2-40B4-BE49-F238E27FC236}">
                <a16:creationId xmlns:a16="http://schemas.microsoft.com/office/drawing/2014/main" id="{FA7D4B52-43F2-D6E2-B4E0-25904B404C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05500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a:extLst>
            <a:ext uri="{FF2B5EF4-FFF2-40B4-BE49-F238E27FC236}">
              <a16:creationId xmlns:a16="http://schemas.microsoft.com/office/drawing/2014/main" id="{427BC66E-526A-0D2C-EFA9-C57F3A4E9500}"/>
            </a:ext>
          </a:extLst>
        </p:cNvPr>
        <p:cNvGrpSpPr/>
        <p:nvPr/>
      </p:nvGrpSpPr>
      <p:grpSpPr>
        <a:xfrm>
          <a:off x="0" y="0"/>
          <a:ext cx="0" cy="0"/>
          <a:chOff x="0" y="0"/>
          <a:chExt cx="0" cy="0"/>
        </a:xfrm>
      </p:grpSpPr>
      <p:sp>
        <p:nvSpPr>
          <p:cNvPr id="1070" name="Google Shape;1070;p8:notes">
            <a:extLst>
              <a:ext uri="{FF2B5EF4-FFF2-40B4-BE49-F238E27FC236}">
                <a16:creationId xmlns:a16="http://schemas.microsoft.com/office/drawing/2014/main" id="{543AABB9-D4AA-0E4E-858E-34B5BBFB0D5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1" name="Google Shape;1071;p8:notes">
            <a:extLst>
              <a:ext uri="{FF2B5EF4-FFF2-40B4-BE49-F238E27FC236}">
                <a16:creationId xmlns:a16="http://schemas.microsoft.com/office/drawing/2014/main" id="{9FA97E4D-22B4-15C7-4C6C-8042229DB4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74629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2A4CFD6D-C611-9E68-9C0F-ECC4A58166F2}"/>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C14ED59F-A00D-CD93-3192-0BBE4CC0C39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C00563E0-CE04-B91B-DF3B-FB0EFDB5C7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50384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86B4C650-B36A-5DD3-6495-2037F1728778}"/>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8D1E03FD-F12B-DD9F-3668-B36863603DD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23909997-0D84-5A54-F9E8-F75C2EF260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90474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300B2748-A3CB-D010-7663-9335973CE11E}"/>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502961B1-CE64-3D45-6E1E-A33ED7F8FCC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AF9E885F-4626-2574-3DEA-041620933B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63247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350F0779-AC75-3F30-7742-1BEDE53CABF4}"/>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9E49E2C9-0DD1-379E-A115-8A0927E3429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ABC9E1E9-8C0C-1D7E-A690-251041F3BD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54836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7" name="Google Shape;107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A715102E-3CCA-E7CD-C96E-2C11F64DBFBE}"/>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5D9EF0F4-2512-422E-5146-239DA6376F4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1B516F0B-5330-F4B5-4B18-4FE05C1C08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76933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a:extLst>
            <a:ext uri="{FF2B5EF4-FFF2-40B4-BE49-F238E27FC236}">
              <a16:creationId xmlns:a16="http://schemas.microsoft.com/office/drawing/2014/main" id="{EE119508-F385-16BA-4D48-BA05B19AB45D}"/>
            </a:ext>
          </a:extLst>
        </p:cNvPr>
        <p:cNvGrpSpPr/>
        <p:nvPr/>
      </p:nvGrpSpPr>
      <p:grpSpPr>
        <a:xfrm>
          <a:off x="0" y="0"/>
          <a:ext cx="0" cy="0"/>
          <a:chOff x="0" y="0"/>
          <a:chExt cx="0" cy="0"/>
        </a:xfrm>
      </p:grpSpPr>
      <p:sp>
        <p:nvSpPr>
          <p:cNvPr id="1038" name="Google Shape;1038;p3:notes">
            <a:extLst>
              <a:ext uri="{FF2B5EF4-FFF2-40B4-BE49-F238E27FC236}">
                <a16:creationId xmlns:a16="http://schemas.microsoft.com/office/drawing/2014/main" id="{C5D916F5-FA23-72A7-0581-4CBBDA58383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9" name="Google Shape;1039;p3:notes">
            <a:extLst>
              <a:ext uri="{FF2B5EF4-FFF2-40B4-BE49-F238E27FC236}">
                <a16:creationId xmlns:a16="http://schemas.microsoft.com/office/drawing/2014/main" id="{D84B83CB-08B5-D4A3-0F3C-8084D24928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79897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1" name="Google Shape;105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a:extLst>
            <a:ext uri="{FF2B5EF4-FFF2-40B4-BE49-F238E27FC236}">
              <a16:creationId xmlns:a16="http://schemas.microsoft.com/office/drawing/2014/main" id="{2D40DDF9-919B-C18E-46EF-3EEB4BCD4506}"/>
            </a:ext>
          </a:extLst>
        </p:cNvPr>
        <p:cNvGrpSpPr/>
        <p:nvPr/>
      </p:nvGrpSpPr>
      <p:grpSpPr>
        <a:xfrm>
          <a:off x="0" y="0"/>
          <a:ext cx="0" cy="0"/>
          <a:chOff x="0" y="0"/>
          <a:chExt cx="0" cy="0"/>
        </a:xfrm>
      </p:grpSpPr>
      <p:sp>
        <p:nvSpPr>
          <p:cNvPr id="1050" name="Google Shape;1050;p5:notes">
            <a:extLst>
              <a:ext uri="{FF2B5EF4-FFF2-40B4-BE49-F238E27FC236}">
                <a16:creationId xmlns:a16="http://schemas.microsoft.com/office/drawing/2014/main" id="{1AB4113B-3D3C-D696-42EB-C6B41C8F6D9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1" name="Google Shape;1051;p5:notes">
            <a:extLst>
              <a:ext uri="{FF2B5EF4-FFF2-40B4-BE49-F238E27FC236}">
                <a16:creationId xmlns:a16="http://schemas.microsoft.com/office/drawing/2014/main" id="{B1E96EB4-BE55-DF9D-F026-BA1F676DFA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57097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3" name="Google Shape;108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BC4695B2-CD7A-AB4E-60F7-8DA712FB78FC}"/>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D11D05B3-C7F0-15DA-E661-4400461209D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F2A28727-B748-8603-F60B-C21AEEF8EA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55199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A0790A5C-2942-7E8E-5A44-3E5E1695CB41}"/>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1974D7C4-C83B-D549-40A5-53ABAAEE6BE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24FCEC76-F9EE-2E27-A46B-4D7AB6E489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31372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906898B0-85D9-3275-1F0D-C50D5026C3D1}"/>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5EB40518-BA87-B1B4-5B25-C7785FF07E3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144CE759-1F16-4C1C-4F7C-329C238CD3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12125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200F51E8-52BF-1F57-53C4-56068E3CFFE7}"/>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D62B3929-00FD-D6F8-5556-2126A7CB45F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C05821EB-D3BD-264D-742F-D7781F71ED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1151009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38BBFB55-5463-2559-3FCA-FF6014077B62}"/>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1202C26F-CED4-1974-A269-79F41637ADB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14D6C791-21F8-A3EF-F7C8-13CF42E017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127868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23BF2AAC-69E2-C195-04D5-9514A36B1B53}"/>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B1F8C16B-B3DC-FCC6-0124-622FDEDBE92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2033C76B-DEEE-E4FB-1AC4-17522FEA0A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188512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C9CD0013-0104-765F-A974-BE05BC0B0E36}"/>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6A7E584C-D6CC-B1E5-B235-3CBB6DB10EF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49AF8150-573A-B5FA-1949-3C15C6C179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97761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92438789-003E-C847-E0D1-ADD9A84646C7}"/>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09844619-FBDE-33B3-86CD-43A898E72F6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23218E94-EB0C-0587-86E7-9A829A7F68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979436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84D60883-243C-77E8-1C70-45EF36B6BEA8}"/>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CCAF4A11-64CA-B3F9-89E8-1521A2D263D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79ED4F3C-9E92-12F5-0FE4-E3732B3A00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703047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a:extLst>
            <a:ext uri="{FF2B5EF4-FFF2-40B4-BE49-F238E27FC236}">
              <a16:creationId xmlns:a16="http://schemas.microsoft.com/office/drawing/2014/main" id="{47AAFAC6-CF6B-471D-6A70-425DB8217B17}"/>
            </a:ext>
          </a:extLst>
        </p:cNvPr>
        <p:cNvGrpSpPr/>
        <p:nvPr/>
      </p:nvGrpSpPr>
      <p:grpSpPr>
        <a:xfrm>
          <a:off x="0" y="0"/>
          <a:ext cx="0" cy="0"/>
          <a:chOff x="0" y="0"/>
          <a:chExt cx="0" cy="0"/>
        </a:xfrm>
      </p:grpSpPr>
      <p:sp>
        <p:nvSpPr>
          <p:cNvPr id="1088" name="Google Shape;1088;p11:notes">
            <a:extLst>
              <a:ext uri="{FF2B5EF4-FFF2-40B4-BE49-F238E27FC236}">
                <a16:creationId xmlns:a16="http://schemas.microsoft.com/office/drawing/2014/main" id="{180F77F3-18C4-FB97-3DD9-D46EEE3B94A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11:notes">
            <a:extLst>
              <a:ext uri="{FF2B5EF4-FFF2-40B4-BE49-F238E27FC236}">
                <a16:creationId xmlns:a16="http://schemas.microsoft.com/office/drawing/2014/main" id="{90F37317-85FA-9B9F-A1C7-00F6BD13CD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17369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7"/>
        <p:cNvGrpSpPr/>
        <p:nvPr/>
      </p:nvGrpSpPr>
      <p:grpSpPr>
        <a:xfrm>
          <a:off x="0" y="0"/>
          <a:ext cx="0" cy="0"/>
          <a:chOff x="0" y="0"/>
          <a:chExt cx="0" cy="0"/>
        </a:xfrm>
      </p:grpSpPr>
      <p:sp>
        <p:nvSpPr>
          <p:cNvPr id="848" name="Google Shape;848;p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9" name="Google Shape;849;p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850" name="Google Shape;850;p1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1" name="Google Shape;851;p1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2" name="Google Shape;852;p1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3" name="Google Shape;893;p24"/>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3">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Prithiv-0/Fullstack-projec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mailto:prithivalagirisamy@gmail.com" TargetMode="External"/><Relationship Id="rId3" Type="http://schemas.openxmlformats.org/officeDocument/2006/relationships/hyperlink" Target="https://github.com/arnchlmcodes" TargetMode="External"/><Relationship Id="rId7" Type="http://schemas.openxmlformats.org/officeDocument/2006/relationships/hyperlink" Target="https://github.com/AJgodwin" TargetMode="External"/><Relationship Id="rId2" Type="http://schemas.openxmlformats.org/officeDocument/2006/relationships/hyperlink" Target="mailto:Balajiarundevelops@gmail.com" TargetMode="External"/><Relationship Id="rId1" Type="http://schemas.openxmlformats.org/officeDocument/2006/relationships/slideLayout" Target="../slideLayouts/slideLayout2.xml"/><Relationship Id="rId6" Type="http://schemas.openxmlformats.org/officeDocument/2006/relationships/hyperlink" Target="mailto:amalgodwin004@gmail.com" TargetMode="External"/><Relationship Id="rId5" Type="http://schemas.openxmlformats.org/officeDocument/2006/relationships/hyperlink" Target="https://github.com/realdanvanth" TargetMode="External"/><Relationship Id="rId4" Type="http://schemas.openxmlformats.org/officeDocument/2006/relationships/hyperlink" Target="mailto:realdanvanth@gmail.com" TargetMode="External"/><Relationship Id="rId9" Type="http://schemas.openxmlformats.org/officeDocument/2006/relationships/hyperlink" Target="https://github.com/Prithiv-0"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hyperlink" Target="https://quantela.com/"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hyperlink" Target="https://esri.com/" TargetMode="External"/><Relationship Id="rId5" Type="http://schemas.openxmlformats.org/officeDocument/2006/relationships/hyperlink" Target="https://safegraph.com/" TargetMode="External"/><Relationship Id="rId4" Type="http://schemas.openxmlformats.org/officeDocument/2006/relationships/hyperlink" Target="https://accenture.com/"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ctrTitle"/>
          </p:nvPr>
        </p:nvSpPr>
        <p:spPr>
          <a:xfrm>
            <a:off x="2704081" y="4155000"/>
            <a:ext cx="6769297" cy="860100"/>
          </a:xfrm>
          <a:prstGeom prst="rect">
            <a:avLst/>
          </a:prstGeom>
          <a:noFill/>
          <a:ln>
            <a:noFill/>
          </a:ln>
        </p:spPr>
        <p:txBody>
          <a:bodyPr spcFirstLastPara="1" wrap="square" lIns="91425" tIns="45700" rIns="91425" bIns="45700" anchor="b" anchorCtr="0">
            <a:noAutofit/>
          </a:bodyPr>
          <a:lstStyle/>
          <a:p>
            <a:r>
              <a:rPr lang="en-US" sz="2100">
                <a:solidFill>
                  <a:srgbClr val="CACACA"/>
                </a:solidFill>
                <a:hlinkClick r:id="rId3"/>
              </a:rPr>
              <a:t>https://github.com/Prithiv-0/Fullstack-project</a:t>
            </a:r>
            <a:endParaRPr lang="en-US"/>
          </a:p>
          <a:p>
            <a:pPr lvl="0">
              <a:lnSpc>
                <a:spcPct val="150000"/>
              </a:lnSpc>
            </a:pPr>
            <a:endParaRPr lang="en-US" sz="250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EC092A5-F198-49A6-4533-0464A0181B41}"/>
              </a:ext>
            </a:extLst>
          </p:cNvPr>
          <p:cNvSpPr txBox="1"/>
          <p:nvPr/>
        </p:nvSpPr>
        <p:spPr>
          <a:xfrm>
            <a:off x="1515533" y="2726266"/>
            <a:ext cx="895773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i="0" u="none" strike="noStrike" baseline="0">
                <a:solidFill>
                  <a:srgbClr val="086072"/>
                </a:solidFill>
                <a:latin typeface="Poppins"/>
              </a:rPr>
              <a:t>SMART CITY COMMAND &amp; INTELLIGENCE </a:t>
            </a:r>
            <a:r>
              <a:rPr lang="en-US" sz="3200" b="1">
                <a:solidFill>
                  <a:srgbClr val="086072"/>
                </a:solidFill>
                <a:latin typeface="Poppins"/>
              </a:rPr>
              <a:t> </a:t>
            </a:r>
            <a:r>
              <a:rPr lang="en-US" sz="3200" b="1" i="0" u="none" strike="noStrike" baseline="0">
                <a:solidFill>
                  <a:srgbClr val="086072"/>
                </a:solidFill>
                <a:latin typeface="Poppins"/>
              </a:rPr>
              <a:t>PLATFORM</a:t>
            </a:r>
            <a:r>
              <a:rPr lang="en-US" sz="3200" b="0" i="0">
                <a:solidFill>
                  <a:srgbClr val="000000"/>
                </a:solidFill>
                <a:latin typeface="Poppins"/>
              </a:rPr>
              <a:t>​</a:t>
            </a:r>
            <a:endParaRPr lang="en-US"/>
          </a:p>
        </p:txBody>
      </p:sp>
      <p:sp>
        <p:nvSpPr>
          <p:cNvPr id="3" name="TextBox 2">
            <a:extLst>
              <a:ext uri="{FF2B5EF4-FFF2-40B4-BE49-F238E27FC236}">
                <a16:creationId xmlns:a16="http://schemas.microsoft.com/office/drawing/2014/main" id="{478074B4-5C40-52A8-77D6-45E6C0C6D5CF}"/>
              </a:ext>
            </a:extLst>
          </p:cNvPr>
          <p:cNvSpPr txBox="1"/>
          <p:nvPr/>
        </p:nvSpPr>
        <p:spPr>
          <a:xfrm>
            <a:off x="2997613" y="1674128"/>
            <a:ext cx="6002866"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23CSE461 – FULL STACK FRAMEWORKS</a:t>
            </a:r>
            <a:endParaRPr lang="en-US" sz="2400"/>
          </a:p>
          <a:p>
            <a:pPr algn="l"/>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43693FF-3756-144B-0E44-6AC34A1389EE}"/>
              </a:ext>
            </a:extLst>
          </p:cNvPr>
          <p:cNvGraphicFramePr>
            <a:graphicFrameLocks noGrp="1"/>
          </p:cNvGraphicFramePr>
          <p:nvPr>
            <p:extLst>
              <p:ext uri="{D42A27DB-BD31-4B8C-83A1-F6EECF244321}">
                <p14:modId xmlns:p14="http://schemas.microsoft.com/office/powerpoint/2010/main" val="2740972668"/>
              </p:ext>
            </p:extLst>
          </p:nvPr>
        </p:nvGraphicFramePr>
        <p:xfrm>
          <a:off x="334536" y="594731"/>
          <a:ext cx="11370726" cy="5261712"/>
        </p:xfrm>
        <a:graphic>
          <a:graphicData uri="http://schemas.openxmlformats.org/drawingml/2006/table">
            <a:tbl>
              <a:tblPr bandRow="1">
                <a:tableStyleId>{B229F12B-DD2F-434A-8BDD-88915C9BCD54}</a:tableStyleId>
              </a:tblPr>
              <a:tblGrid>
                <a:gridCol w="1895121">
                  <a:extLst>
                    <a:ext uri="{9D8B030D-6E8A-4147-A177-3AD203B41FA5}">
                      <a16:colId xmlns:a16="http://schemas.microsoft.com/office/drawing/2014/main" val="3961880098"/>
                    </a:ext>
                  </a:extLst>
                </a:gridCol>
                <a:gridCol w="1895121">
                  <a:extLst>
                    <a:ext uri="{9D8B030D-6E8A-4147-A177-3AD203B41FA5}">
                      <a16:colId xmlns:a16="http://schemas.microsoft.com/office/drawing/2014/main" val="2780725586"/>
                    </a:ext>
                  </a:extLst>
                </a:gridCol>
                <a:gridCol w="1895121">
                  <a:extLst>
                    <a:ext uri="{9D8B030D-6E8A-4147-A177-3AD203B41FA5}">
                      <a16:colId xmlns:a16="http://schemas.microsoft.com/office/drawing/2014/main" val="1419462767"/>
                    </a:ext>
                  </a:extLst>
                </a:gridCol>
                <a:gridCol w="1895121">
                  <a:extLst>
                    <a:ext uri="{9D8B030D-6E8A-4147-A177-3AD203B41FA5}">
                      <a16:colId xmlns:a16="http://schemas.microsoft.com/office/drawing/2014/main" val="2374528318"/>
                    </a:ext>
                  </a:extLst>
                </a:gridCol>
                <a:gridCol w="1895121">
                  <a:extLst>
                    <a:ext uri="{9D8B030D-6E8A-4147-A177-3AD203B41FA5}">
                      <a16:colId xmlns:a16="http://schemas.microsoft.com/office/drawing/2014/main" val="3042729589"/>
                    </a:ext>
                  </a:extLst>
                </a:gridCol>
                <a:gridCol w="1895121">
                  <a:extLst>
                    <a:ext uri="{9D8B030D-6E8A-4147-A177-3AD203B41FA5}">
                      <a16:colId xmlns:a16="http://schemas.microsoft.com/office/drawing/2014/main" val="2123881849"/>
                    </a:ext>
                  </a:extLst>
                </a:gridCol>
              </a:tblGrid>
              <a:tr h="672884">
                <a:tc>
                  <a:txBody>
                    <a:bodyPr/>
                    <a:lstStyle/>
                    <a:p>
                      <a:pPr algn="l" rtl="0">
                        <a:buNone/>
                      </a:pPr>
                      <a:r>
                        <a:rPr lang="en-US" b="1" i="0">
                          <a:solidFill>
                            <a:schemeClr val="tx1"/>
                          </a:solidFill>
                          <a:effectLst/>
                        </a:rPr>
                        <a:t>Roll No.</a:t>
                      </a:r>
                      <a:endParaRPr lang="en-US">
                        <a:solidFill>
                          <a:schemeClr val="tx1"/>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chemeClr val="tx1"/>
                          </a:solidFill>
                          <a:effectLst/>
                        </a:rPr>
                        <a:t>Name</a:t>
                      </a:r>
                      <a:endParaRPr lang="en-US">
                        <a:solidFill>
                          <a:schemeClr val="tx1"/>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chemeClr val="tx1"/>
                          </a:solidFill>
                          <a:effectLst/>
                        </a:rPr>
                        <a:t>Email (official)</a:t>
                      </a:r>
                      <a:endParaRPr lang="en-US">
                        <a:solidFill>
                          <a:schemeClr val="tx1"/>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chemeClr val="tx1"/>
                          </a:solidFill>
                          <a:effectLst/>
                        </a:rPr>
                        <a:t>Email (personal)</a:t>
                      </a:r>
                      <a:endParaRPr lang="en-US">
                        <a:solidFill>
                          <a:schemeClr val="tx1"/>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chemeClr val="tx1"/>
                          </a:solidFill>
                          <a:effectLst/>
                        </a:rPr>
                        <a:t>Mobile No.</a:t>
                      </a:r>
                      <a:endParaRPr lang="en-US">
                        <a:solidFill>
                          <a:schemeClr val="tx1"/>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dirty="0" err="1">
                          <a:solidFill>
                            <a:schemeClr val="tx1"/>
                          </a:solidFill>
                          <a:effectLst/>
                        </a:rPr>
                        <a:t>Github</a:t>
                      </a:r>
                      <a:r>
                        <a:rPr lang="en-US" b="1" i="0" dirty="0">
                          <a:solidFill>
                            <a:schemeClr val="tx1"/>
                          </a:solidFill>
                          <a:effectLst/>
                        </a:rPr>
                        <a:t> URL</a:t>
                      </a:r>
                      <a:endParaRPr lang="en-US" dirty="0">
                        <a:solidFill>
                          <a:schemeClr val="tx1"/>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94798"/>
                  </a:ext>
                </a:extLst>
              </a:tr>
              <a:tr h="1147207">
                <a:tc>
                  <a:txBody>
                    <a:bodyPr/>
                    <a:lstStyle/>
                    <a:p>
                      <a:pPr algn="l" rtl="0">
                        <a:buNone/>
                      </a:pPr>
                      <a:r>
                        <a:rPr lang="en-US" b="1" i="0">
                          <a:solidFill>
                            <a:srgbClr val="000000"/>
                          </a:solidFill>
                          <a:effectLst/>
                        </a:rPr>
                        <a:t>CB.SC.U4CSE23759</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Balaji </a:t>
                      </a:r>
                      <a:r>
                        <a:rPr lang="en-US" b="0" i="0" dirty="0" err="1">
                          <a:solidFill>
                            <a:srgbClr val="000000"/>
                          </a:solidFill>
                          <a:effectLst/>
                        </a:rPr>
                        <a:t>arunachalamn</a:t>
                      </a:r>
                      <a:endParaRPr lang="en-US" dirty="0" err="1">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cb.sc.u4cse23759@cb.students.amrita.edu</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400" b="0" i="0" u="none" strike="noStrike" noProof="0" dirty="0">
                          <a:latin typeface="Calibri"/>
                          <a:hlinkClick r:id="rId2"/>
                        </a:rPr>
                        <a:t>Balajiarundevelops@gmail.com</a:t>
                      </a:r>
                      <a:endParaRPr lang="en-US" b="0"/>
                    </a:p>
                    <a:p>
                      <a:pPr lvl="0">
                        <a:buNone/>
                      </a:pPr>
                      <a:endParaRPr lang="en-US" sz="1400" b="0" i="0" u="none" strike="noStrike" noProof="0" dirty="0">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buNone/>
                      </a:pPr>
                      <a:r>
                        <a:rPr lang="en-US" sz="1400" b="0" i="0" u="none" strike="noStrike" noProof="0">
                          <a:solidFill>
                            <a:srgbClr val="000000"/>
                          </a:solidFill>
                          <a:effectLst/>
                          <a:latin typeface="Calibri"/>
                        </a:rPr>
                        <a:t>90800 78322</a:t>
                      </a:r>
                      <a:endParaRPr lang="en-US"/>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buNone/>
                      </a:pPr>
                      <a:r>
                        <a:rPr lang="en-US" sz="1400" b="1" i="0" u="none" strike="noStrike" noProof="0" dirty="0">
                          <a:solidFill>
                            <a:srgbClr val="000000"/>
                          </a:solidFill>
                          <a:effectLst/>
                          <a:latin typeface="Calibri"/>
                          <a:hlinkClick r:id="rId3"/>
                        </a:rPr>
                        <a:t>https://github.com/arnchlmcodes</a:t>
                      </a:r>
                      <a:endParaRPr lang="en-US" sz="1400" b="1" i="0" u="none" strike="noStrike" noProof="0" dirty="0">
                        <a:solidFill>
                          <a:srgbClr val="000000"/>
                        </a:solidFill>
                        <a:effectLst/>
                        <a:latin typeface="Calibri"/>
                      </a:endParaRPr>
                    </a:p>
                    <a:p>
                      <a:pPr lvl="0" algn="l">
                        <a:buNone/>
                      </a:pPr>
                      <a:endParaRPr lang="en-US" sz="1400" b="1" i="0" u="none" strike="noStrike" noProof="0" dirty="0">
                        <a:solidFill>
                          <a:srgbClr val="000000"/>
                        </a:solidFill>
                        <a:effectLst/>
                        <a:latin typeface="Calibri"/>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4320400"/>
                  </a:ext>
                </a:extLst>
              </a:tr>
              <a:tr h="1147207">
                <a:tc>
                  <a:txBody>
                    <a:bodyPr/>
                    <a:lstStyle/>
                    <a:p>
                      <a:pPr algn="l" rtl="0">
                        <a:buNone/>
                      </a:pPr>
                      <a:r>
                        <a:rPr lang="en-US" b="1" i="0">
                          <a:solidFill>
                            <a:srgbClr val="000000"/>
                          </a:solidFill>
                          <a:effectLst/>
                        </a:rPr>
                        <a:t>CB.SC.U4CSE23241</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Danvanth</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cb.sc.u4cse23241@cb.students.amrita.edu</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hlinkClick r:id="rId4"/>
                        </a:rPr>
                        <a:t>realdanvanth@gmail.com</a:t>
                      </a:r>
                      <a:endParaRPr lang="en-US" b="0">
                        <a:effectLst/>
                      </a:endParaRPr>
                    </a:p>
                    <a:p>
                      <a:pPr lvl="0" algn="l">
                        <a:buNone/>
                      </a:pP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9047254353</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dirty="0">
                          <a:solidFill>
                            <a:srgbClr val="000000"/>
                          </a:solidFill>
                          <a:effectLst/>
                          <a:hlinkClick r:id="rId5"/>
                        </a:rPr>
                        <a:t>https://github.com/realdanvanth</a:t>
                      </a:r>
                      <a:endParaRPr lang="en-US" b="1" i="0" dirty="0">
                        <a:solidFill>
                          <a:srgbClr val="000000"/>
                        </a:solidFill>
                        <a:effectLst/>
                      </a:endParaRPr>
                    </a:p>
                    <a:p>
                      <a:pPr lvl="0" algn="l">
                        <a:buNone/>
                      </a:pPr>
                      <a:endParaRPr lang="en-US" b="1"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5834981"/>
                  </a:ext>
                </a:extLst>
              </a:tr>
              <a:tr h="1147207">
                <a:tc>
                  <a:txBody>
                    <a:bodyPr/>
                    <a:lstStyle/>
                    <a:p>
                      <a:pPr algn="l" rtl="0">
                        <a:buNone/>
                      </a:pPr>
                      <a:r>
                        <a:rPr lang="en-US" b="1" i="0">
                          <a:solidFill>
                            <a:srgbClr val="000000"/>
                          </a:solidFill>
                          <a:effectLst/>
                        </a:rPr>
                        <a:t>CB.SC.U4CSE23407</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Amal Godwin</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cb.sc.u4cse23407@cb.students.amrita.edu</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hlinkClick r:id="rId6"/>
                        </a:rPr>
                        <a:t>amalgodwin004@gmail.com</a:t>
                      </a:r>
                      <a:endParaRPr lang="en-US" b="0" i="0" dirty="0">
                        <a:solidFill>
                          <a:srgbClr val="000000"/>
                        </a:solidFill>
                        <a:effectLst/>
                      </a:endParaRPr>
                    </a:p>
                    <a:p>
                      <a:pPr lvl="0" algn="l">
                        <a:buNone/>
                      </a:pP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6374484675</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dirty="0">
                          <a:solidFill>
                            <a:srgbClr val="000000"/>
                          </a:solidFill>
                          <a:effectLst/>
                          <a:hlinkClick r:id="rId7"/>
                        </a:rPr>
                        <a:t>https://github.com/AJgodwin</a:t>
                      </a:r>
                      <a:endParaRPr lang="en-US" b="1" i="0" dirty="0">
                        <a:solidFill>
                          <a:srgbClr val="000000"/>
                        </a:solidFill>
                        <a:effectLst/>
                      </a:endParaRPr>
                    </a:p>
                    <a:p>
                      <a:pPr lvl="0" algn="l">
                        <a:buNone/>
                      </a:pPr>
                      <a:endParaRPr lang="en-US" b="1"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7721492"/>
                  </a:ext>
                </a:extLst>
              </a:tr>
              <a:tr h="1147207">
                <a:tc>
                  <a:txBody>
                    <a:bodyPr/>
                    <a:lstStyle/>
                    <a:p>
                      <a:pPr algn="l" rtl="0">
                        <a:buNone/>
                      </a:pPr>
                      <a:r>
                        <a:rPr lang="en-US" b="1" i="0">
                          <a:solidFill>
                            <a:srgbClr val="000000"/>
                          </a:solidFill>
                          <a:effectLst/>
                        </a:rPr>
                        <a:t>CB.SC.U4CSE23260</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a:solidFill>
                            <a:srgbClr val="000000"/>
                          </a:solidFill>
                          <a:effectLst/>
                        </a:rPr>
                        <a:t>Prithiv A</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cb.sc.u4cse23260@cb.students.amrita.edu</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hlinkClick r:id="rId8"/>
                        </a:rPr>
                        <a:t>prithivalagirisamy@gmail.com</a:t>
                      </a:r>
                      <a:endParaRPr lang="en-US" b="0" i="0" dirty="0">
                        <a:solidFill>
                          <a:srgbClr val="000000"/>
                        </a:solidFill>
                        <a:effectLst/>
                      </a:endParaRPr>
                    </a:p>
                    <a:p>
                      <a:pPr lvl="0" algn="l">
                        <a:buNone/>
                      </a:pPr>
                      <a:endParaRPr lang="en-US" b="0"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a:solidFill>
                            <a:srgbClr val="000000"/>
                          </a:solidFill>
                          <a:effectLst/>
                        </a:rPr>
                        <a:t>9047996002</a:t>
                      </a:r>
                      <a:endParaRPr lang="en-US">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b="1" i="0" dirty="0">
                          <a:solidFill>
                            <a:srgbClr val="000000"/>
                          </a:solidFill>
                          <a:effectLst/>
                          <a:hlinkClick r:id="rId9"/>
                        </a:rPr>
                        <a:t>https://github.com/Prithiv-0</a:t>
                      </a:r>
                      <a:endParaRPr lang="en-US" b="1" i="0" dirty="0">
                        <a:solidFill>
                          <a:srgbClr val="000000"/>
                        </a:solidFill>
                        <a:effectLst/>
                      </a:endParaRPr>
                    </a:p>
                    <a:p>
                      <a:pPr lvl="0" algn="l">
                        <a:buNone/>
                      </a:pPr>
                      <a:endParaRPr lang="en-US" b="1" i="0" dirty="0">
                        <a:solidFill>
                          <a:srgbClr val="00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078091"/>
                  </a:ext>
                </a:extLst>
              </a:tr>
            </a:tbl>
          </a:graphicData>
        </a:graphic>
      </p:graphicFrame>
    </p:spTree>
    <p:extLst>
      <p:ext uri="{BB962C8B-B14F-4D97-AF65-F5344CB8AC3E}">
        <p14:creationId xmlns:p14="http://schemas.microsoft.com/office/powerpoint/2010/main" val="3803100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4">
          <a:extLst>
            <a:ext uri="{FF2B5EF4-FFF2-40B4-BE49-F238E27FC236}">
              <a16:creationId xmlns:a16="http://schemas.microsoft.com/office/drawing/2014/main" id="{BFAB2252-3FE3-918A-3109-A3770C0BF48F}"/>
            </a:ext>
          </a:extLst>
        </p:cNvPr>
        <p:cNvGrpSpPr/>
        <p:nvPr/>
      </p:nvGrpSpPr>
      <p:grpSpPr>
        <a:xfrm>
          <a:off x="0" y="0"/>
          <a:ext cx="0" cy="0"/>
          <a:chOff x="0" y="0"/>
          <a:chExt cx="0" cy="0"/>
        </a:xfrm>
      </p:grpSpPr>
      <p:sp>
        <p:nvSpPr>
          <p:cNvPr id="1035" name="Google Shape;1035;p46">
            <a:extLst>
              <a:ext uri="{FF2B5EF4-FFF2-40B4-BE49-F238E27FC236}">
                <a16:creationId xmlns:a16="http://schemas.microsoft.com/office/drawing/2014/main" id="{719F834D-A313-8F06-2FEF-FA16FEA91AD0}"/>
              </a:ext>
            </a:extLst>
          </p:cNvPr>
          <p:cNvSpPr txBox="1">
            <a:spLocks noGrp="1"/>
          </p:cNvSpPr>
          <p:nvPr>
            <p:ph type="title"/>
          </p:nvPr>
        </p:nvSpPr>
        <p:spPr>
          <a:xfrm>
            <a:off x="780589" y="359545"/>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3200" b="1" i="1">
                <a:solidFill>
                  <a:srgbClr val="C00000"/>
                </a:solidFill>
                <a:latin typeface="Times New Roman"/>
                <a:ea typeface="Times New Roman"/>
                <a:cs typeface="Times New Roman"/>
                <a:sym typeface="Times New Roman"/>
              </a:rPr>
              <a:t>Abstract</a:t>
            </a:r>
            <a:endParaRPr sz="3200"/>
          </a:p>
        </p:txBody>
      </p:sp>
      <p:sp>
        <p:nvSpPr>
          <p:cNvPr id="1036" name="Google Shape;1036;p46">
            <a:extLst>
              <a:ext uri="{FF2B5EF4-FFF2-40B4-BE49-F238E27FC236}">
                <a16:creationId xmlns:a16="http://schemas.microsoft.com/office/drawing/2014/main" id="{380915E1-940F-6108-C1A1-A418FDAC7A52}"/>
              </a:ext>
            </a:extLst>
          </p:cNvPr>
          <p:cNvSpPr txBox="1">
            <a:spLocks noGrp="1"/>
          </p:cNvSpPr>
          <p:nvPr>
            <p:ph type="body" idx="1"/>
          </p:nvPr>
        </p:nvSpPr>
        <p:spPr>
          <a:xfrm>
            <a:off x="414889" y="1130517"/>
            <a:ext cx="10881300" cy="5296200"/>
          </a:xfrm>
          <a:prstGeom prst="rect">
            <a:avLst/>
          </a:prstGeom>
          <a:noFill/>
          <a:ln>
            <a:noFill/>
          </a:ln>
        </p:spPr>
        <p:txBody>
          <a:bodyPr spcFirstLastPara="1" wrap="square" lIns="91425" tIns="45700" rIns="91425" bIns="45700" anchor="t" anchorCtr="0">
            <a:noAutofit/>
          </a:bodyPr>
          <a:lstStyle/>
          <a:p>
            <a:r>
              <a:rPr lang="en-US"/>
              <a:t>System Architecture: A full-stack smart city platform with an integrated AI intelligence layer.</a:t>
            </a:r>
            <a:endParaRPr lang="en-US">
              <a:latin typeface="Times New Roman"/>
            </a:endParaRPr>
          </a:p>
          <a:p>
            <a:r>
              <a:rPr lang="en-US"/>
              <a:t>Data Collection: Automatically gathers information from citizens, social media, traffic systems, and city databases.</a:t>
            </a:r>
          </a:p>
          <a:p>
            <a:r>
              <a:rPr lang="en-US"/>
              <a:t>Issue Understanding: Identifies what the issue is, where it is located, and how serious it is.</a:t>
            </a:r>
          </a:p>
          <a:p>
            <a:r>
              <a:rPr lang="en-US"/>
              <a:t>Alerts &amp; Coordination: Sends real-time alerts to responsible government departments and nearby citizens.</a:t>
            </a:r>
          </a:p>
          <a:p>
            <a:r>
              <a:rPr lang="en-US"/>
              <a:t>City Dashboard: Provides a single live dashboard with maps, alerts, and insights for better decision-making.</a:t>
            </a:r>
          </a:p>
          <a:p>
            <a:pPr>
              <a:lnSpc>
                <a:spcPct val="150000"/>
              </a:lnSpc>
            </a:pPr>
            <a:endParaRPr lang="en-US">
              <a:latin typeface="Times New Roman"/>
            </a:endParaRPr>
          </a:p>
        </p:txBody>
      </p:sp>
    </p:spTree>
    <p:extLst>
      <p:ext uri="{BB962C8B-B14F-4D97-AF65-F5344CB8AC3E}">
        <p14:creationId xmlns:p14="http://schemas.microsoft.com/office/powerpoint/2010/main" val="3252390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4">
          <a:extLst>
            <a:ext uri="{FF2B5EF4-FFF2-40B4-BE49-F238E27FC236}">
              <a16:creationId xmlns:a16="http://schemas.microsoft.com/office/drawing/2014/main" id="{F8EA72D7-F2F5-50FE-8C99-69F34086DC57}"/>
            </a:ext>
          </a:extLst>
        </p:cNvPr>
        <p:cNvGrpSpPr/>
        <p:nvPr/>
      </p:nvGrpSpPr>
      <p:grpSpPr>
        <a:xfrm>
          <a:off x="0" y="0"/>
          <a:ext cx="0" cy="0"/>
          <a:chOff x="0" y="0"/>
          <a:chExt cx="0" cy="0"/>
        </a:xfrm>
      </p:grpSpPr>
      <p:sp>
        <p:nvSpPr>
          <p:cNvPr id="1035" name="Google Shape;1035;p46">
            <a:extLst>
              <a:ext uri="{FF2B5EF4-FFF2-40B4-BE49-F238E27FC236}">
                <a16:creationId xmlns:a16="http://schemas.microsoft.com/office/drawing/2014/main" id="{64539CA1-D0C3-856B-6972-8D8BB2F98393}"/>
              </a:ext>
            </a:extLst>
          </p:cNvPr>
          <p:cNvSpPr txBox="1">
            <a:spLocks noGrp="1"/>
          </p:cNvSpPr>
          <p:nvPr>
            <p:ph type="title"/>
          </p:nvPr>
        </p:nvSpPr>
        <p:spPr>
          <a:xfrm>
            <a:off x="780589" y="359545"/>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3200" b="1" i="1">
                <a:solidFill>
                  <a:srgbClr val="C00000"/>
                </a:solidFill>
                <a:latin typeface="Times New Roman"/>
                <a:ea typeface="Times New Roman"/>
                <a:cs typeface="Times New Roman"/>
                <a:sym typeface="Times New Roman"/>
              </a:rPr>
              <a:t>About the product </a:t>
            </a:r>
            <a:endParaRPr sz="3200"/>
          </a:p>
        </p:txBody>
      </p:sp>
      <p:sp>
        <p:nvSpPr>
          <p:cNvPr id="1036" name="Google Shape;1036;p46">
            <a:extLst>
              <a:ext uri="{FF2B5EF4-FFF2-40B4-BE49-F238E27FC236}">
                <a16:creationId xmlns:a16="http://schemas.microsoft.com/office/drawing/2014/main" id="{749FCFFC-EEBB-F660-88DE-8E39A2B1286C}"/>
              </a:ext>
            </a:extLst>
          </p:cNvPr>
          <p:cNvSpPr txBox="1">
            <a:spLocks noGrp="1"/>
          </p:cNvSpPr>
          <p:nvPr>
            <p:ph type="body" idx="1"/>
          </p:nvPr>
        </p:nvSpPr>
        <p:spPr>
          <a:xfrm>
            <a:off x="414889" y="1130517"/>
            <a:ext cx="10881300" cy="5296200"/>
          </a:xfrm>
          <a:prstGeom prst="rect">
            <a:avLst/>
          </a:prstGeom>
          <a:noFill/>
          <a:ln>
            <a:noFill/>
          </a:ln>
        </p:spPr>
        <p:txBody>
          <a:bodyPr spcFirstLastPara="1" wrap="square" lIns="91425" tIns="45700" rIns="91425" bIns="45700" anchor="t" anchorCtr="0">
            <a:noAutofit/>
          </a:bodyPr>
          <a:lstStyle/>
          <a:p>
            <a:pPr marL="285750" indent="-285750"/>
            <a:r>
              <a:rPr lang="en-US">
                <a:cs typeface="Times New Roman"/>
              </a:rPr>
              <a:t>An AI-powered platform designed to monitor city-wide issues continuously.</a:t>
            </a:r>
          </a:p>
          <a:p>
            <a:pPr marL="285750" indent="-285750"/>
            <a:r>
              <a:rPr lang="en-US">
                <a:cs typeface="Times New Roman"/>
              </a:rPr>
              <a:t>Acts as a digital city control room for government authorities.</a:t>
            </a:r>
          </a:p>
          <a:p>
            <a:pPr marL="285750" indent="-285750"/>
            <a:r>
              <a:rPr lang="en-US">
                <a:cs typeface="Times New Roman"/>
              </a:rPr>
              <a:t>Helps detect, analyze, and manage urban problems in real time.</a:t>
            </a:r>
          </a:p>
          <a:p>
            <a:pPr marL="285750" indent="-285750"/>
            <a:r>
              <a:rPr lang="en-US">
                <a:cs typeface="Times New Roman"/>
              </a:rPr>
              <a:t>Automatically connects reported issues to the correct government departments.</a:t>
            </a:r>
          </a:p>
          <a:p>
            <a:pPr marL="285750" indent="-285750"/>
            <a:r>
              <a:rPr lang="en-US">
                <a:cs typeface="Times New Roman"/>
              </a:rPr>
              <a:t>Reduces dependency on manual monitoring and phone-based complaints.</a:t>
            </a:r>
          </a:p>
          <a:p>
            <a:pPr marL="285750" indent="-285750"/>
            <a:r>
              <a:rPr lang="en-US">
                <a:cs typeface="Times New Roman"/>
              </a:rPr>
              <a:t>Supports continuous city monitoring and faster problem resolution.</a:t>
            </a:r>
          </a:p>
          <a:p>
            <a:pPr marL="50800" indent="0">
              <a:lnSpc>
                <a:spcPct val="100000"/>
              </a:lnSpc>
              <a:buNone/>
            </a:pPr>
            <a:endParaRPr lang="en-US" b="1">
              <a:latin typeface="Times New Roman"/>
              <a:cs typeface="Times New Roman"/>
            </a:endParaRPr>
          </a:p>
        </p:txBody>
      </p:sp>
    </p:spTree>
    <p:extLst>
      <p:ext uri="{BB962C8B-B14F-4D97-AF65-F5344CB8AC3E}">
        <p14:creationId xmlns:p14="http://schemas.microsoft.com/office/powerpoint/2010/main" val="3768553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4">
          <a:extLst>
            <a:ext uri="{FF2B5EF4-FFF2-40B4-BE49-F238E27FC236}">
              <a16:creationId xmlns:a16="http://schemas.microsoft.com/office/drawing/2014/main" id="{55593B6E-9D42-9134-289D-7042A99BDEE0}"/>
            </a:ext>
          </a:extLst>
        </p:cNvPr>
        <p:cNvGrpSpPr/>
        <p:nvPr/>
      </p:nvGrpSpPr>
      <p:grpSpPr>
        <a:xfrm>
          <a:off x="0" y="0"/>
          <a:ext cx="0" cy="0"/>
          <a:chOff x="0" y="0"/>
          <a:chExt cx="0" cy="0"/>
        </a:xfrm>
      </p:grpSpPr>
      <p:sp>
        <p:nvSpPr>
          <p:cNvPr id="1035" name="Google Shape;1035;p46">
            <a:extLst>
              <a:ext uri="{FF2B5EF4-FFF2-40B4-BE49-F238E27FC236}">
                <a16:creationId xmlns:a16="http://schemas.microsoft.com/office/drawing/2014/main" id="{CAB97D00-6C2F-9423-C48F-A07984048C30}"/>
              </a:ext>
            </a:extLst>
          </p:cNvPr>
          <p:cNvSpPr txBox="1">
            <a:spLocks noGrp="1"/>
          </p:cNvSpPr>
          <p:nvPr>
            <p:ph type="title"/>
          </p:nvPr>
        </p:nvSpPr>
        <p:spPr>
          <a:xfrm>
            <a:off x="780589" y="359545"/>
            <a:ext cx="10515600" cy="456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3600"/>
              <a:buFont typeface="Times New Roman"/>
              <a:buNone/>
            </a:pPr>
            <a:r>
              <a:rPr lang="en-IN" sz="3200" b="1" i="1">
                <a:solidFill>
                  <a:srgbClr val="C00000"/>
                </a:solidFill>
                <a:latin typeface="Times New Roman"/>
                <a:ea typeface="Times New Roman"/>
                <a:cs typeface="Times New Roman"/>
                <a:sym typeface="Times New Roman"/>
              </a:rPr>
              <a:t>About the product (Compared)</a:t>
            </a:r>
            <a:endParaRPr sz="3200"/>
          </a:p>
        </p:txBody>
      </p:sp>
      <p:sp>
        <p:nvSpPr>
          <p:cNvPr id="1036" name="Google Shape;1036;p46">
            <a:extLst>
              <a:ext uri="{FF2B5EF4-FFF2-40B4-BE49-F238E27FC236}">
                <a16:creationId xmlns:a16="http://schemas.microsoft.com/office/drawing/2014/main" id="{5C983543-9596-73A1-64F0-C9795F32E9C8}"/>
              </a:ext>
            </a:extLst>
          </p:cNvPr>
          <p:cNvSpPr txBox="1">
            <a:spLocks noGrp="1"/>
          </p:cNvSpPr>
          <p:nvPr>
            <p:ph type="body" idx="1"/>
          </p:nvPr>
        </p:nvSpPr>
        <p:spPr>
          <a:xfrm>
            <a:off x="414889" y="1130517"/>
            <a:ext cx="10881300" cy="5296200"/>
          </a:xfrm>
          <a:prstGeom prst="rect">
            <a:avLst/>
          </a:prstGeom>
          <a:noFill/>
          <a:ln>
            <a:noFill/>
          </a:ln>
        </p:spPr>
        <p:txBody>
          <a:bodyPr spcFirstLastPara="1" wrap="square" lIns="91425" tIns="45700" rIns="91425" bIns="45700" anchor="t" anchorCtr="0">
            <a:noAutofit/>
          </a:bodyPr>
          <a:lstStyle/>
          <a:p>
            <a:r>
              <a:rPr lang="en-US">
                <a:cs typeface="Times New Roman"/>
              </a:rPr>
              <a:t>Traditional Complaint Systems: Manual reporting with delayed response and no clear tracking.</a:t>
            </a:r>
          </a:p>
          <a:p>
            <a:r>
              <a:rPr lang="en-US">
                <a:cs typeface="Times New Roman"/>
              </a:rPr>
              <a:t>Traffic Monitoring Systems: Focus only on traffic and ignore other city problems.</a:t>
            </a:r>
            <a:endParaRPr lang="en-US"/>
          </a:p>
          <a:p>
            <a:r>
              <a:rPr lang="en-US">
                <a:cs typeface="Times New Roman"/>
              </a:rPr>
              <a:t>Department-Specific Tools: Work independently with no coordination between departments.</a:t>
            </a:r>
            <a:endParaRPr lang="en-US"/>
          </a:p>
          <a:p>
            <a:r>
              <a:rPr lang="en-US">
                <a:cs typeface="Times New Roman"/>
              </a:rPr>
              <a:t>Public Alert Systems: Only broadcast messages without understanding issue severity.</a:t>
            </a:r>
            <a:endParaRPr lang="en-US"/>
          </a:p>
          <a:p>
            <a:r>
              <a:rPr lang="en-US">
                <a:cs typeface="Times New Roman"/>
              </a:rPr>
              <a:t>Smart City Command Platform: A single, integrated system that detects, prioritizes, and manages all city issues in real time.</a:t>
            </a:r>
            <a:endParaRPr lang="en-US"/>
          </a:p>
          <a:p>
            <a:pPr marL="285750" indent="-285750"/>
            <a:endParaRPr lang="en-US">
              <a:cs typeface="Times New Roman"/>
            </a:endParaRPr>
          </a:p>
        </p:txBody>
      </p:sp>
    </p:spTree>
    <p:extLst>
      <p:ext uri="{BB962C8B-B14F-4D97-AF65-F5344CB8AC3E}">
        <p14:creationId xmlns:p14="http://schemas.microsoft.com/office/powerpoint/2010/main" val="2188980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47"/>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200" b="1" i="1">
                <a:solidFill>
                  <a:srgbClr val="CC0066"/>
                </a:solidFill>
                <a:latin typeface="Times New Roman"/>
                <a:ea typeface="Times New Roman"/>
                <a:cs typeface="Times New Roman"/>
                <a:sym typeface="Times New Roman"/>
              </a:rPr>
              <a:t>Introduction</a:t>
            </a:r>
            <a:endParaRPr lang="en-US" sz="3200" i="1">
              <a:solidFill>
                <a:srgbClr val="CC0066"/>
              </a:solidFill>
            </a:endParaRPr>
          </a:p>
        </p:txBody>
      </p:sp>
      <p:sp>
        <p:nvSpPr>
          <p:cNvPr id="1042" name="Google Shape;1042;p47"/>
          <p:cNvSpPr txBox="1">
            <a:spLocks noGrp="1"/>
          </p:cNvSpPr>
          <p:nvPr>
            <p:ph type="body" idx="1"/>
          </p:nvPr>
        </p:nvSpPr>
        <p:spPr>
          <a:xfrm>
            <a:off x="290886" y="1208763"/>
            <a:ext cx="11926529" cy="4871100"/>
          </a:xfrm>
          <a:prstGeom prst="rect">
            <a:avLst/>
          </a:prstGeom>
          <a:noFill/>
          <a:ln>
            <a:noFill/>
          </a:ln>
        </p:spPr>
        <p:txBody>
          <a:bodyPr spcFirstLastPara="1" wrap="square" lIns="91425" tIns="45700" rIns="91425" bIns="45700" anchor="t" anchorCtr="0">
            <a:noAutofit/>
          </a:bodyPr>
          <a:lstStyle/>
          <a:p>
            <a:r>
              <a:rPr lang="en-US" sz="2200">
                <a:latin typeface="Arial"/>
                <a:cs typeface="Arial"/>
              </a:rPr>
              <a:t>Urban cities generate massive unstructured data: traffic updates, public grievances, tweets, CCTV signals, sentiment pulses, emergency alerts.</a:t>
            </a:r>
            <a:br>
              <a:rPr lang="en-US" sz="2200">
                <a:latin typeface="Arial"/>
                <a:cs typeface="Arial"/>
              </a:rPr>
            </a:br>
            <a:r>
              <a:rPr lang="en-US" sz="2200">
                <a:latin typeface="Arial"/>
                <a:cs typeface="Arial"/>
              </a:rPr>
              <a:t> However, authorities lack a </a:t>
            </a:r>
            <a:r>
              <a:rPr lang="en-US" sz="2200" b="1">
                <a:latin typeface="Arial"/>
                <a:cs typeface="Arial"/>
              </a:rPr>
              <a:t>unified, intelligent system</a:t>
            </a:r>
            <a:r>
              <a:rPr lang="en-US" sz="2200">
                <a:latin typeface="Arial"/>
                <a:cs typeface="Arial"/>
              </a:rPr>
              <a:t> to interpret and operationalize it.</a:t>
            </a:r>
          </a:p>
          <a:p>
            <a:r>
              <a:rPr lang="en-US" sz="2200">
                <a:cs typeface="Times New Roman"/>
              </a:rPr>
              <a:t>This project proposes a Smart City Command platform that automatically gathers data from citizens, social media, and city systems to detect and locate urban issues.</a:t>
            </a:r>
          </a:p>
          <a:p>
            <a:r>
              <a:rPr lang="en-US" sz="2200">
                <a:cs typeface="Times New Roman"/>
              </a:rPr>
              <a:t>The platform delivers real-time alerts and a unified dashboard for officials and citizens, enabling faster response and better city management.</a:t>
            </a:r>
          </a:p>
          <a:p>
            <a:r>
              <a:rPr lang="en-US" sz="2200">
                <a:cs typeface="Times New Roman"/>
              </a:rPr>
              <a:t>This Product addresses</a:t>
            </a:r>
          </a:p>
          <a:p>
            <a:pPr lvl="1">
              <a:buSzPts val="2800"/>
              <a:buFont typeface="Courier New"/>
              <a:buChar char="o"/>
            </a:pPr>
            <a:r>
              <a:rPr lang="en-US" sz="1800">
                <a:latin typeface="Arial"/>
                <a:cs typeface="Arial"/>
              </a:rPr>
              <a:t>Growing workflow complexity in municipal operations</a:t>
            </a:r>
          </a:p>
          <a:p>
            <a:pPr lvl="1">
              <a:lnSpc>
                <a:spcPct val="150000"/>
              </a:lnSpc>
              <a:buSzPts val="2800"/>
              <a:buFont typeface="Courier New"/>
              <a:buChar char="o"/>
            </a:pPr>
            <a:r>
              <a:rPr lang="en-US" sz="1800">
                <a:latin typeface="Arial"/>
                <a:cs typeface="Arial"/>
              </a:rPr>
              <a:t>Requirements for </a:t>
            </a:r>
            <a:r>
              <a:rPr lang="en-US" sz="1800" b="1">
                <a:latin typeface="Arial"/>
                <a:cs typeface="Arial"/>
              </a:rPr>
              <a:t>AI-based triage</a:t>
            </a:r>
            <a:r>
              <a:rPr lang="en-US" sz="1800">
                <a:latin typeface="Arial"/>
                <a:cs typeface="Arial"/>
              </a:rPr>
              <a:t>, </a:t>
            </a:r>
            <a:r>
              <a:rPr lang="en-US" sz="1800" b="1">
                <a:latin typeface="Arial"/>
                <a:cs typeface="Arial"/>
              </a:rPr>
              <a:t>early warnings</a:t>
            </a:r>
            <a:r>
              <a:rPr lang="en-US" sz="1800">
                <a:latin typeface="Arial"/>
                <a:cs typeface="Arial"/>
              </a:rPr>
              <a:t>, and </a:t>
            </a:r>
            <a:r>
              <a:rPr lang="en-US" sz="1800" b="1">
                <a:latin typeface="Arial"/>
                <a:cs typeface="Arial"/>
              </a:rPr>
              <a:t>citizen-friendly governance</a:t>
            </a:r>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A82F4076-7ACB-14F3-279D-AC6E97F26832}"/>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D84CE824-4F76-D4C5-A0F4-461382C5EAC8}"/>
              </a:ext>
            </a:extLst>
          </p:cNvPr>
          <p:cNvSpPr txBox="1">
            <a:spLocks noGrp="1"/>
          </p:cNvSpPr>
          <p:nvPr>
            <p:ph type="title"/>
          </p:nvPr>
        </p:nvSpPr>
        <p:spPr>
          <a:xfrm>
            <a:off x="300844" y="233330"/>
            <a:ext cx="10515600" cy="669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C0066"/>
              </a:buClr>
              <a:buSzPts val="3600"/>
              <a:buFont typeface="Times New Roman"/>
              <a:buNone/>
            </a:pPr>
            <a:r>
              <a:rPr lang="en-IN" sz="3200" b="1" i="1">
                <a:solidFill>
                  <a:srgbClr val="CC0066"/>
                </a:solidFill>
                <a:latin typeface="Times New Roman"/>
                <a:ea typeface="Times New Roman"/>
                <a:cs typeface="Times New Roman"/>
                <a:sym typeface="Times New Roman"/>
              </a:rPr>
              <a:t>Features</a:t>
            </a:r>
            <a:endParaRPr lang="en-US" sz="3200" i="1">
              <a:solidFill>
                <a:srgbClr val="CC0066"/>
              </a:solidFill>
            </a:endParaRPr>
          </a:p>
        </p:txBody>
      </p:sp>
      <p:sp>
        <p:nvSpPr>
          <p:cNvPr id="2" name="Text Placeholder 1">
            <a:extLst>
              <a:ext uri="{FF2B5EF4-FFF2-40B4-BE49-F238E27FC236}">
                <a16:creationId xmlns:a16="http://schemas.microsoft.com/office/drawing/2014/main" id="{D91DC4E6-6ADE-257B-63C7-4DE900F77304}"/>
              </a:ext>
            </a:extLst>
          </p:cNvPr>
          <p:cNvSpPr>
            <a:spLocks noGrp="1" noChangeArrowheads="1"/>
          </p:cNvSpPr>
          <p:nvPr>
            <p:ph type="body" idx="1"/>
          </p:nvPr>
        </p:nvSpPr>
        <p:spPr bwMode="auto">
          <a:xfrm>
            <a:off x="287592" y="1232043"/>
            <a:ext cx="10874051" cy="413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buClr>
                <a:srgbClr val="000000"/>
              </a:buClr>
              <a:buSzTx/>
            </a:pPr>
            <a:r>
              <a:rPr lang="en-US">
                <a:solidFill>
                  <a:schemeClr val="tx1"/>
                </a:solidFill>
                <a:cs typeface="Times New Roman"/>
              </a:rPr>
              <a:t>Automatic issue detection from social media </a:t>
            </a:r>
            <a:r>
              <a:rPr kumimoji="0" lang="en-US" b="0" i="0" u="none" strike="noStrike" cap="none" normalizeH="0" baseline="0">
                <a:ln>
                  <a:noFill/>
                </a:ln>
                <a:solidFill>
                  <a:schemeClr val="tx1"/>
                </a:solidFill>
                <a:effectLst/>
                <a:cs typeface="Times New Roman"/>
              </a:rPr>
              <a:t>and </a:t>
            </a:r>
            <a:r>
              <a:rPr lang="en-US">
                <a:solidFill>
                  <a:schemeClr val="tx1"/>
                </a:solidFill>
                <a:cs typeface="Times New Roman"/>
              </a:rPr>
              <a:t>citizen reports</a:t>
            </a:r>
            <a:endParaRPr lang="en-US" altLang="en-US" b="0" i="0" u="none" strike="noStrike" cap="none" normalizeH="0" baseline="0">
              <a:ln>
                <a:noFill/>
              </a:ln>
              <a:solidFill>
                <a:schemeClr val="tx1"/>
              </a:solidFill>
              <a:effectLst/>
              <a:latin typeface="Times New Roman" panose="02020603050405020304" pitchFamily="18" charset="0"/>
              <a:cs typeface="Times New Roman"/>
            </a:endParaRPr>
          </a:p>
          <a:p>
            <a:pPr>
              <a:buClr>
                <a:srgbClr val="000000"/>
              </a:buClr>
              <a:buSzTx/>
            </a:pPr>
            <a:r>
              <a:rPr lang="en-US">
                <a:solidFill>
                  <a:schemeClr val="tx1"/>
                </a:solidFill>
                <a:cs typeface="Times New Roman"/>
              </a:rPr>
              <a:t>Location-aware pothole, traffic</a:t>
            </a:r>
            <a:r>
              <a:rPr kumimoji="0" lang="en-US" b="0" i="0" u="none" strike="noStrike" cap="none" normalizeH="0" baseline="0">
                <a:ln>
                  <a:noFill/>
                </a:ln>
                <a:solidFill>
                  <a:schemeClr val="tx1"/>
                </a:solidFill>
                <a:effectLst/>
                <a:cs typeface="Times New Roman"/>
              </a:rPr>
              <a:t>, and </a:t>
            </a:r>
            <a:r>
              <a:rPr lang="en-US">
                <a:solidFill>
                  <a:schemeClr val="tx1"/>
                </a:solidFill>
                <a:cs typeface="Times New Roman"/>
              </a:rPr>
              <a:t>roadblock identification</a:t>
            </a:r>
          </a:p>
          <a:p>
            <a:pPr>
              <a:buClr>
                <a:srgbClr val="000000"/>
              </a:buClr>
              <a:buSzTx/>
            </a:pPr>
            <a:r>
              <a:rPr lang="en-US">
                <a:solidFill>
                  <a:schemeClr val="tx1"/>
                </a:solidFill>
                <a:cs typeface="Times New Roman"/>
              </a:rPr>
              <a:t>AI-based issue severity </a:t>
            </a:r>
            <a:r>
              <a:rPr kumimoji="0" lang="en-US" b="0" i="0" u="none" strike="noStrike" cap="none" normalizeH="0" baseline="0">
                <a:ln>
                  <a:noFill/>
                </a:ln>
                <a:solidFill>
                  <a:schemeClr val="tx1"/>
                </a:solidFill>
                <a:effectLst/>
                <a:cs typeface="Times New Roman"/>
              </a:rPr>
              <a:t>and </a:t>
            </a:r>
            <a:r>
              <a:rPr lang="en-US">
                <a:solidFill>
                  <a:schemeClr val="tx1"/>
                </a:solidFill>
                <a:cs typeface="Times New Roman"/>
              </a:rPr>
              <a:t>priority ranking</a:t>
            </a:r>
          </a:p>
          <a:p>
            <a:pPr>
              <a:buClr>
                <a:srgbClr val="000000"/>
              </a:buClr>
              <a:buSzTx/>
            </a:pPr>
            <a:r>
              <a:rPr lang="en-US">
                <a:solidFill>
                  <a:schemeClr val="tx1"/>
                </a:solidFill>
                <a:cs typeface="Times New Roman"/>
              </a:rPr>
              <a:t>Real-time alerts </a:t>
            </a:r>
            <a:r>
              <a:rPr kumimoji="0" lang="en-US" b="0" i="0" u="none" strike="noStrike" cap="none" normalizeH="0" baseline="0">
                <a:ln>
                  <a:noFill/>
                </a:ln>
                <a:solidFill>
                  <a:schemeClr val="tx1"/>
                </a:solidFill>
                <a:effectLst/>
                <a:cs typeface="Times New Roman"/>
              </a:rPr>
              <a:t>to </a:t>
            </a:r>
            <a:r>
              <a:rPr lang="en-US">
                <a:solidFill>
                  <a:schemeClr val="tx1"/>
                </a:solidFill>
                <a:cs typeface="Times New Roman"/>
              </a:rPr>
              <a:t>responsible government departments</a:t>
            </a:r>
          </a:p>
          <a:p>
            <a:pPr>
              <a:buClr>
                <a:srgbClr val="000000"/>
              </a:buClr>
              <a:buSzTx/>
            </a:pPr>
            <a:r>
              <a:rPr lang="en-US">
                <a:solidFill>
                  <a:schemeClr val="tx1"/>
                </a:solidFill>
                <a:cs typeface="Times New Roman"/>
              </a:rPr>
              <a:t>Public notifications for nearby citizens </a:t>
            </a:r>
            <a:r>
              <a:rPr kumimoji="0" lang="en-US" b="0" i="0" u="none" strike="noStrike" cap="none" normalizeH="0" baseline="0">
                <a:ln>
                  <a:noFill/>
                </a:ln>
                <a:solidFill>
                  <a:schemeClr val="tx1"/>
                </a:solidFill>
                <a:effectLst/>
                <a:cs typeface="Times New Roman"/>
              </a:rPr>
              <a:t>and </a:t>
            </a:r>
            <a:r>
              <a:rPr lang="en-US">
                <a:solidFill>
                  <a:schemeClr val="tx1"/>
                </a:solidFill>
                <a:cs typeface="Times New Roman"/>
              </a:rPr>
              <a:t>commuters</a:t>
            </a:r>
          </a:p>
          <a:p>
            <a:pPr>
              <a:buClr>
                <a:srgbClr val="000000"/>
              </a:buClr>
              <a:buSzTx/>
            </a:pPr>
            <a:r>
              <a:rPr lang="en-US">
                <a:solidFill>
                  <a:schemeClr val="tx1"/>
                </a:solidFill>
                <a:cs typeface="Times New Roman"/>
              </a:rPr>
              <a:t>Unified city monitoring </a:t>
            </a:r>
            <a:r>
              <a:rPr kumimoji="0" lang="en-US" b="0" i="0" u="none" strike="noStrike" cap="none" normalizeH="0" baseline="0">
                <a:ln>
                  <a:noFill/>
                </a:ln>
                <a:solidFill>
                  <a:schemeClr val="tx1"/>
                </a:solidFill>
                <a:effectLst/>
                <a:cs typeface="Times New Roman"/>
              </a:rPr>
              <a:t>and </a:t>
            </a:r>
            <a:r>
              <a:rPr lang="en-US">
                <a:solidFill>
                  <a:schemeClr val="tx1"/>
                </a:solidFill>
                <a:cs typeface="Times New Roman"/>
              </a:rPr>
              <a:t>analytics dashboard</a:t>
            </a:r>
          </a:p>
          <a:p>
            <a:pPr>
              <a:buClr>
                <a:srgbClr val="000000"/>
              </a:buClr>
              <a:buSzTx/>
            </a:pPr>
            <a:r>
              <a:rPr lang="en-US">
                <a:solidFill>
                  <a:schemeClr val="tx1"/>
                </a:solidFill>
                <a:cs typeface="Times New Roman"/>
              </a:rPr>
              <a:t>End-to-end issue tracking from report </a:t>
            </a:r>
            <a:r>
              <a:rPr kumimoji="0" lang="en-US" b="0" i="0" u="none" strike="noStrike" cap="none" normalizeH="0" baseline="0">
                <a:ln>
                  <a:noFill/>
                </a:ln>
                <a:solidFill>
                  <a:schemeClr val="tx1"/>
                </a:solidFill>
                <a:effectLst/>
                <a:cs typeface="Times New Roman"/>
              </a:rPr>
              <a:t>to </a:t>
            </a:r>
            <a:r>
              <a:rPr lang="en-US">
                <a:solidFill>
                  <a:schemeClr val="tx1"/>
                </a:solidFill>
                <a:cs typeface="Times New Roman"/>
              </a:rPr>
              <a:t>resolution</a:t>
            </a:r>
          </a:p>
          <a:p>
            <a:pPr marL="285750" indent="-285750">
              <a:lnSpc>
                <a:spcPct val="100000"/>
              </a:lnSpc>
              <a:spcBef>
                <a:spcPct val="0"/>
              </a:spcBef>
              <a:spcAft>
                <a:spcPct val="0"/>
              </a:spcAft>
              <a:buClrTx/>
              <a:buSzTx/>
            </a:pPr>
            <a:endParaRPr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282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7EEFE642-4CBA-3DFD-5773-6C4973044864}"/>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4356C3BC-1478-717F-C2CD-0F603F638B23}"/>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a:bodyPr>
          <a:lstStyle/>
          <a:p>
            <a:r>
              <a:rPr lang="en-IN" sz="3600" b="1" i="1">
                <a:solidFill>
                  <a:srgbClr val="CC0066"/>
                </a:solidFill>
                <a:latin typeface="Times New Roman"/>
                <a:sym typeface="Times New Roman"/>
              </a:rPr>
              <a:t>Problem Statement</a:t>
            </a:r>
            <a:r>
              <a:rPr lang="en-IN" sz="3600">
                <a:solidFill>
                  <a:srgbClr val="CC0066"/>
                </a:solidFill>
                <a:sym typeface="Times New Roman"/>
              </a:rPr>
              <a:t> </a:t>
            </a:r>
            <a:endParaRPr lang="en-US"/>
          </a:p>
        </p:txBody>
      </p:sp>
      <p:sp>
        <p:nvSpPr>
          <p:cNvPr id="1042" name="Google Shape;1042;p47">
            <a:extLst>
              <a:ext uri="{FF2B5EF4-FFF2-40B4-BE49-F238E27FC236}">
                <a16:creationId xmlns:a16="http://schemas.microsoft.com/office/drawing/2014/main" id="{B3548570-8DAC-BF56-5B92-040E5C9FD371}"/>
              </a:ext>
            </a:extLst>
          </p:cNvPr>
          <p:cNvSpPr txBox="1">
            <a:spLocks noGrp="1"/>
          </p:cNvSpPr>
          <p:nvPr>
            <p:ph type="body" idx="1"/>
          </p:nvPr>
        </p:nvSpPr>
        <p:spPr>
          <a:xfrm>
            <a:off x="132735" y="1194386"/>
            <a:ext cx="11926529" cy="4871100"/>
          </a:xfrm>
          <a:prstGeom prst="rect">
            <a:avLst/>
          </a:prstGeom>
          <a:noFill/>
          <a:ln>
            <a:noFill/>
          </a:ln>
        </p:spPr>
        <p:txBody>
          <a:bodyPr spcFirstLastPara="1" wrap="square" lIns="91425" tIns="45700" rIns="91425" bIns="45700" anchor="t" anchorCtr="0">
            <a:noAutofit/>
          </a:bodyPr>
          <a:lstStyle/>
          <a:p>
            <a:r>
              <a:rPr lang="en-US">
                <a:cs typeface="Times New Roman"/>
              </a:rPr>
              <a:t>Urban governance systems generate large volumes of data from multiple sources such as traffic management systems, citizen complaints, sensors, and public platforms. However, this data is often fragmented across departments and lacks intelligent processing, leading to delayed responses, inefficient coordination, and limited visibility into city-wide issues.</a:t>
            </a:r>
            <a:endParaRPr lang="en-US"/>
          </a:p>
          <a:p>
            <a:r>
              <a:rPr lang="en-US">
                <a:cs typeface="Times New Roman"/>
              </a:rPr>
              <a:t>There is a need for a unified, full-stack platform that can integrate diverse data sources, analyze them intelligently, and provide real-time, actionable insights to support faster decision-making and improved civic service delivery.</a:t>
            </a:r>
          </a:p>
          <a:p>
            <a:pPr indent="-457200">
              <a:lnSpc>
                <a:spcPct val="150000"/>
              </a:lnSpc>
            </a:pPr>
            <a:endParaRPr lang="en-US">
              <a:latin typeface="Times New Roman" panose="02020603050405020304" pitchFamily="18" charset="0"/>
              <a:cs typeface="Times New Roman" panose="02020603050405020304" pitchFamily="18" charset="0"/>
            </a:endParaRPr>
          </a:p>
          <a:p>
            <a:pPr>
              <a:lnSpc>
                <a:spcPct val="150000"/>
              </a:lnSpc>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026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48AD0379-09D2-6011-7D8D-77608AEFD3A3}"/>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8609654B-FDB9-4947-A10F-BD04B7FD76DC}"/>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a:bodyPr>
          <a:lstStyle/>
          <a:p>
            <a:r>
              <a:rPr lang="en-IN" sz="3600" b="1" i="1">
                <a:solidFill>
                  <a:srgbClr val="CC0066"/>
                </a:solidFill>
                <a:latin typeface="Times New Roman"/>
                <a:sym typeface="Times New Roman"/>
              </a:rPr>
              <a:t>Problem Statement</a:t>
            </a:r>
            <a:r>
              <a:rPr lang="en-IN" sz="3600">
                <a:solidFill>
                  <a:srgbClr val="CC0066"/>
                </a:solidFill>
                <a:sym typeface="Times New Roman"/>
              </a:rPr>
              <a:t> </a:t>
            </a:r>
            <a:endParaRPr lang="en-US"/>
          </a:p>
        </p:txBody>
      </p:sp>
      <p:sp>
        <p:nvSpPr>
          <p:cNvPr id="1042" name="Google Shape;1042;p47">
            <a:extLst>
              <a:ext uri="{FF2B5EF4-FFF2-40B4-BE49-F238E27FC236}">
                <a16:creationId xmlns:a16="http://schemas.microsoft.com/office/drawing/2014/main" id="{DF7E527B-771B-82D4-C574-79B51FA453AD}"/>
              </a:ext>
            </a:extLst>
          </p:cNvPr>
          <p:cNvSpPr txBox="1">
            <a:spLocks noGrp="1"/>
          </p:cNvSpPr>
          <p:nvPr>
            <p:ph type="body" idx="1"/>
          </p:nvPr>
        </p:nvSpPr>
        <p:spPr>
          <a:xfrm>
            <a:off x="437536" y="1223141"/>
            <a:ext cx="10859730" cy="4411997"/>
          </a:xfrm>
          <a:prstGeom prst="rect">
            <a:avLst/>
          </a:prstGeom>
          <a:noFill/>
          <a:ln>
            <a:noFill/>
          </a:ln>
        </p:spPr>
        <p:txBody>
          <a:bodyPr spcFirstLastPara="1" wrap="square" lIns="91425" tIns="45700" rIns="91425" bIns="45700" anchor="t" anchorCtr="0">
            <a:noAutofit/>
          </a:bodyPr>
          <a:lstStyle/>
          <a:p>
            <a:pPr>
              <a:buNone/>
            </a:pPr>
            <a:r>
              <a:rPr lang="en-US" b="1"/>
              <a:t>Decision-Making Gap</a:t>
            </a:r>
            <a:endParaRPr lang="en-US"/>
          </a:p>
          <a:p>
            <a:pPr>
              <a:buNone/>
            </a:pPr>
            <a:r>
              <a:rPr lang="en-US" sz="1800">
                <a:cs typeface="Times New Roman" panose="02020603050405020304" pitchFamily="18" charset="0"/>
              </a:rPr>
              <a:t>There is no centralized platform that intelligently analyzes and correlates real-time and historical urban data to support city-level decision-making. Information related to traffic issues, civic complaints, public safety incidents, and infrastructure status is scattered across multiple systems and departments, without contextual analysis or prioritization.</a:t>
            </a:r>
            <a:endParaRPr lang="en-US"/>
          </a:p>
          <a:p>
            <a:pPr>
              <a:buNone/>
            </a:pPr>
            <a:endParaRPr lang="en-US"/>
          </a:p>
          <a:p>
            <a:pPr>
              <a:buNone/>
            </a:pPr>
            <a:r>
              <a:rPr lang="en-US" b="1"/>
              <a:t>Impact of the Problem</a:t>
            </a:r>
            <a:endParaRPr lang="en-US"/>
          </a:p>
          <a:p>
            <a:pPr>
              <a:buNone/>
            </a:pPr>
            <a:r>
              <a:rPr lang="en-US" sz="1800">
                <a:cs typeface="Times New Roman" panose="02020603050405020304" pitchFamily="18" charset="0"/>
              </a:rPr>
              <a:t>Due to this gap, city authorities often make decisions under time pressure, limited visibility, and incomplete information. This leads to delayed incident response, inefficient resource allocation, poor inter-department coordination, and reduced trust among citizens in urban governance systems.</a:t>
            </a:r>
            <a:endParaRPr lang="en-US"/>
          </a:p>
          <a:p>
            <a:pPr>
              <a:lnSpc>
                <a:spcPct val="150000"/>
              </a:lnSpc>
              <a:buNone/>
            </a:pPr>
            <a:endParaRPr lang="en-US" sz="1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852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8159-497C-2095-333A-2C3B0FBCACA4}"/>
              </a:ext>
            </a:extLst>
          </p:cNvPr>
          <p:cNvSpPr>
            <a:spLocks noGrp="1"/>
          </p:cNvSpPr>
          <p:nvPr>
            <p:ph type="ctrTitle"/>
          </p:nvPr>
        </p:nvSpPr>
        <p:spPr>
          <a:xfrm>
            <a:off x="0" y="929"/>
            <a:ext cx="9144000" cy="777436"/>
          </a:xfrm>
        </p:spPr>
        <p:txBody>
          <a:bodyPr>
            <a:normAutofit/>
          </a:bodyPr>
          <a:lstStyle/>
          <a:p>
            <a:pPr algn="l"/>
            <a:r>
              <a:rPr lang="en-IN" sz="3600" b="1" i="1">
                <a:solidFill>
                  <a:srgbClr val="CC0066"/>
                </a:solidFill>
                <a:latin typeface="Times New Roman"/>
                <a:cs typeface="Times New Roman"/>
              </a:rPr>
              <a:t>  Target Users</a:t>
            </a:r>
          </a:p>
        </p:txBody>
      </p:sp>
      <p:graphicFrame>
        <p:nvGraphicFramePr>
          <p:cNvPr id="5" name="Table 4">
            <a:extLst>
              <a:ext uri="{FF2B5EF4-FFF2-40B4-BE49-F238E27FC236}">
                <a16:creationId xmlns:a16="http://schemas.microsoft.com/office/drawing/2014/main" id="{530027F6-9973-02D5-F1FD-3AD0200E12EA}"/>
              </a:ext>
            </a:extLst>
          </p:cNvPr>
          <p:cNvGraphicFramePr>
            <a:graphicFrameLocks noGrp="1"/>
          </p:cNvGraphicFramePr>
          <p:nvPr>
            <p:extLst>
              <p:ext uri="{D42A27DB-BD31-4B8C-83A1-F6EECF244321}">
                <p14:modId xmlns:p14="http://schemas.microsoft.com/office/powerpoint/2010/main" val="2907509003"/>
              </p:ext>
            </p:extLst>
          </p:nvPr>
        </p:nvGraphicFramePr>
        <p:xfrm>
          <a:off x="646980" y="776376"/>
          <a:ext cx="10889781" cy="4973971"/>
        </p:xfrm>
        <a:graphic>
          <a:graphicData uri="http://schemas.openxmlformats.org/drawingml/2006/table">
            <a:tbl>
              <a:tblPr bandRow="1">
                <a:tableStyleId>{B229F12B-DD2F-434A-8BDD-88915C9BCD54}</a:tableStyleId>
              </a:tblPr>
              <a:tblGrid>
                <a:gridCol w="3629927">
                  <a:extLst>
                    <a:ext uri="{9D8B030D-6E8A-4147-A177-3AD203B41FA5}">
                      <a16:colId xmlns:a16="http://schemas.microsoft.com/office/drawing/2014/main" val="29879532"/>
                    </a:ext>
                  </a:extLst>
                </a:gridCol>
                <a:gridCol w="3629927">
                  <a:extLst>
                    <a:ext uri="{9D8B030D-6E8A-4147-A177-3AD203B41FA5}">
                      <a16:colId xmlns:a16="http://schemas.microsoft.com/office/drawing/2014/main" val="2311051181"/>
                    </a:ext>
                  </a:extLst>
                </a:gridCol>
                <a:gridCol w="3629927">
                  <a:extLst>
                    <a:ext uri="{9D8B030D-6E8A-4147-A177-3AD203B41FA5}">
                      <a16:colId xmlns:a16="http://schemas.microsoft.com/office/drawing/2014/main" val="1254410986"/>
                    </a:ext>
                  </a:extLst>
                </a:gridCol>
              </a:tblGrid>
              <a:tr h="1042051">
                <a:tc>
                  <a:txBody>
                    <a:bodyPr/>
                    <a:lstStyle/>
                    <a:p>
                      <a:pPr algn="ctr" rtl="0">
                        <a:buNone/>
                      </a:pPr>
                      <a:r>
                        <a:rPr lang="en-US" sz="2400" b="1" i="0">
                          <a:solidFill>
                            <a:srgbClr val="FF0000"/>
                          </a:solidFill>
                          <a:effectLst/>
                        </a:rPr>
                        <a:t>Targeted User</a:t>
                      </a:r>
                      <a:endParaRPr lang="en-US" sz="2400">
                        <a:solidFill>
                          <a:srgbClr val="FF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1" i="0">
                          <a:solidFill>
                            <a:srgbClr val="FF0000"/>
                          </a:solidFill>
                          <a:effectLst/>
                        </a:rPr>
                        <a:t>Need for the Product</a:t>
                      </a:r>
                      <a:endParaRPr lang="en-US" sz="2400">
                        <a:solidFill>
                          <a:srgbClr val="FF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1" i="0">
                          <a:solidFill>
                            <a:srgbClr val="FF0000"/>
                          </a:solidFill>
                          <a:effectLst/>
                        </a:rPr>
                        <a:t>Expected Outcome</a:t>
                      </a:r>
                      <a:endParaRPr lang="en-US" sz="2400">
                        <a:solidFill>
                          <a:srgbClr val="FF0000"/>
                        </a:solidFill>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035702"/>
                  </a:ext>
                </a:extLst>
              </a:tr>
              <a:tr h="1143245">
                <a:tc>
                  <a:txBody>
                    <a:bodyPr/>
                    <a:lstStyle/>
                    <a:p>
                      <a:pPr algn="ctr" rtl="0">
                        <a:buNone/>
                      </a:pPr>
                      <a:r>
                        <a:rPr lang="en-US" sz="2400" b="0" i="0">
                          <a:solidFill>
                            <a:srgbClr val="C00000"/>
                          </a:solidFill>
                          <a:effectLst/>
                        </a:rPr>
                        <a:t>Citizens</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0" i="0">
                          <a:solidFill>
                            <a:srgbClr val="000000"/>
                          </a:solidFill>
                          <a:effectLst/>
                        </a:rPr>
                        <a:t>No single platform to report issues or receive alerts about nearby disruptions</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0" i="0">
                          <a:solidFill>
                            <a:srgbClr val="000000"/>
                          </a:solidFill>
                          <a:effectLst/>
                        </a:rPr>
                        <a:t>Easy issue reporting and real-time alerts for safety and travel planning</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2493814"/>
                  </a:ext>
                </a:extLst>
              </a:tr>
              <a:tr h="1143245">
                <a:tc>
                  <a:txBody>
                    <a:bodyPr/>
                    <a:lstStyle/>
                    <a:p>
                      <a:pPr algn="ctr" rtl="0">
                        <a:buNone/>
                      </a:pPr>
                      <a:r>
                        <a:rPr lang="en-US" sz="2400" b="0" i="0">
                          <a:solidFill>
                            <a:srgbClr val="C00000"/>
                          </a:solidFill>
                          <a:effectLst/>
                        </a:rPr>
                        <a:t>Government Officials</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0" i="0">
                          <a:solidFill>
                            <a:srgbClr val="000000"/>
                          </a:solidFill>
                          <a:effectLst/>
                        </a:rPr>
                        <a:t>Overwhelmed by scattered reports and lack of priority visibility</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0" i="0">
                          <a:solidFill>
                            <a:srgbClr val="000000"/>
                          </a:solidFill>
                          <a:effectLst/>
                        </a:rPr>
                        <a:t>Unified dashboard showing high-priority issues and clear action points</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3704395"/>
                  </a:ext>
                </a:extLst>
              </a:tr>
              <a:tr h="1143245">
                <a:tc>
                  <a:txBody>
                    <a:bodyPr/>
                    <a:lstStyle/>
                    <a:p>
                      <a:pPr algn="ctr" rtl="0">
                        <a:buNone/>
                      </a:pPr>
                      <a:r>
                        <a:rPr lang="en-US" sz="2400" b="0" i="0">
                          <a:solidFill>
                            <a:srgbClr val="C00000"/>
                          </a:solidFill>
                          <a:effectLst/>
                        </a:rPr>
                        <a:t>City Administrators</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a:buNone/>
                      </a:pPr>
                      <a:r>
                        <a:rPr lang="en-US" sz="2400" b="0" i="0">
                          <a:solidFill>
                            <a:srgbClr val="000000"/>
                          </a:solidFill>
                          <a:effectLst/>
                        </a:rPr>
                        <a:t>Lack of data-driven insights on city performance</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US" sz="2400" b="0" i="0">
                          <a:solidFill>
                            <a:srgbClr val="000000"/>
                          </a:solidFill>
                          <a:effectLst/>
                        </a:rPr>
                        <a:t>Analytics on response times, issue trends, and department efficiency</a:t>
                      </a:r>
                      <a:endParaRPr lang="en-US" sz="240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3402048"/>
                  </a:ext>
                </a:extLst>
              </a:tr>
            </a:tbl>
          </a:graphicData>
        </a:graphic>
      </p:graphicFrame>
    </p:spTree>
    <p:extLst>
      <p:ext uri="{BB962C8B-B14F-4D97-AF65-F5344CB8AC3E}">
        <p14:creationId xmlns:p14="http://schemas.microsoft.com/office/powerpoint/2010/main" val="862339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111B-5D7B-BC9A-FC23-0588CC351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C5819-03C0-5563-4B04-7ACFB79C5DEC}"/>
              </a:ext>
            </a:extLst>
          </p:cNvPr>
          <p:cNvSpPr>
            <a:spLocks noGrp="1"/>
          </p:cNvSpPr>
          <p:nvPr>
            <p:ph type="ctrTitle"/>
          </p:nvPr>
        </p:nvSpPr>
        <p:spPr>
          <a:xfrm>
            <a:off x="431321" y="236904"/>
            <a:ext cx="9144000" cy="777436"/>
          </a:xfrm>
        </p:spPr>
        <p:txBody>
          <a:bodyPr>
            <a:normAutofit/>
          </a:bodyPr>
          <a:lstStyle/>
          <a:p>
            <a:pPr algn="l"/>
            <a:r>
              <a:rPr lang="en-IN" sz="3600" b="1" i="1">
                <a:solidFill>
                  <a:srgbClr val="CC0066"/>
                </a:solidFill>
                <a:latin typeface="Times New Roman"/>
                <a:cs typeface="Times New Roman"/>
              </a:rPr>
              <a:t>User &amp; Requirement Analysis</a:t>
            </a:r>
          </a:p>
        </p:txBody>
      </p:sp>
      <p:sp>
        <p:nvSpPr>
          <p:cNvPr id="3" name="Subtitle 2">
            <a:extLst>
              <a:ext uri="{FF2B5EF4-FFF2-40B4-BE49-F238E27FC236}">
                <a16:creationId xmlns:a16="http://schemas.microsoft.com/office/drawing/2014/main" id="{F97821A0-29CF-16D9-1789-F3B815661888}"/>
              </a:ext>
            </a:extLst>
          </p:cNvPr>
          <p:cNvSpPr>
            <a:spLocks noGrp="1"/>
          </p:cNvSpPr>
          <p:nvPr>
            <p:ph type="subTitle" idx="1"/>
          </p:nvPr>
        </p:nvSpPr>
        <p:spPr>
          <a:xfrm>
            <a:off x="431321" y="1373548"/>
            <a:ext cx="10659466" cy="4116748"/>
          </a:xfrm>
        </p:spPr>
        <p:txBody>
          <a:bodyPr spcFirstLastPara="1" wrap="square" lIns="91425" tIns="45700" rIns="91425" bIns="45700" anchor="t" anchorCtr="0">
            <a:noAutofit/>
          </a:bodyPr>
          <a:lstStyle/>
          <a:p>
            <a:pPr algn="l">
              <a:buFont typeface="Arial" panose="020B0604020202020204" pitchFamily="34" charset="0"/>
              <a:buChar char="•"/>
            </a:pPr>
            <a:r>
              <a:rPr lang="en-US" sz="2800">
                <a:cs typeface="Times New Roman"/>
              </a:rPr>
              <a:t>Where exactly is the city issue located?</a:t>
            </a:r>
            <a:endParaRPr lang="en-US" sz="2800">
              <a:latin typeface="Times New Roman" panose="02020603050405020304" pitchFamily="18" charset="0"/>
              <a:cs typeface="Times New Roman"/>
            </a:endParaRPr>
          </a:p>
          <a:p>
            <a:pPr algn="l">
              <a:buFont typeface="Arial" panose="020B0604020202020204" pitchFamily="34" charset="0"/>
              <a:buChar char="•"/>
            </a:pPr>
            <a:r>
              <a:rPr lang="en-US" sz="2800">
                <a:cs typeface="Times New Roman"/>
              </a:rPr>
              <a:t>What type of issue is it (pothole, traffic, roadblock, accident)?</a:t>
            </a:r>
          </a:p>
          <a:p>
            <a:pPr algn="l">
              <a:buFont typeface="Arial" panose="020B0604020202020204" pitchFamily="34" charset="0"/>
              <a:buChar char="•"/>
            </a:pPr>
            <a:r>
              <a:rPr lang="en-US" sz="2800">
                <a:cs typeface="Times New Roman"/>
              </a:rPr>
              <a:t>How serious is the issue and who is affected?</a:t>
            </a:r>
          </a:p>
          <a:p>
            <a:pPr algn="l">
              <a:buFont typeface="Arial" panose="020B0604020202020204" pitchFamily="34" charset="0"/>
              <a:buChar char="•"/>
            </a:pPr>
            <a:r>
              <a:rPr lang="en-US" sz="2800">
                <a:cs typeface="Times New Roman"/>
              </a:rPr>
              <a:t>Which government department should handle it?</a:t>
            </a:r>
          </a:p>
          <a:p>
            <a:pPr algn="l">
              <a:buFont typeface="Arial" panose="020B0604020202020204" pitchFamily="34" charset="0"/>
              <a:buChar char="•"/>
            </a:pPr>
            <a:r>
              <a:rPr lang="en-US" sz="2800">
                <a:cs typeface="Times New Roman"/>
              </a:rPr>
              <a:t>How quickly does the issue need to be resolved?</a:t>
            </a:r>
          </a:p>
          <a:p>
            <a:pPr algn="l">
              <a:buFont typeface="Arial" panose="020B0604020202020204" pitchFamily="34" charset="0"/>
              <a:buChar char="•"/>
            </a:pPr>
            <a:r>
              <a:rPr lang="en-US" sz="2800">
                <a:cs typeface="Times New Roman"/>
              </a:rPr>
              <a:t>Which citizens need to be informed about this issue?</a:t>
            </a:r>
          </a:p>
          <a:p>
            <a:pPr algn="l">
              <a:lnSpc>
                <a:spcPct val="200000"/>
              </a:lnSpc>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711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1808-BE98-AC87-0195-E20637C15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F17CC-1636-0A2F-D722-DBD4FFEEBB2A}"/>
              </a:ext>
            </a:extLst>
          </p:cNvPr>
          <p:cNvSpPr>
            <a:spLocks noGrp="1"/>
          </p:cNvSpPr>
          <p:nvPr>
            <p:ph type="ctrTitle"/>
          </p:nvPr>
        </p:nvSpPr>
        <p:spPr>
          <a:xfrm>
            <a:off x="431321" y="236904"/>
            <a:ext cx="9144000" cy="777436"/>
          </a:xfrm>
        </p:spPr>
        <p:txBody>
          <a:bodyPr>
            <a:normAutofit/>
          </a:bodyPr>
          <a:lstStyle/>
          <a:p>
            <a:pPr algn="l"/>
            <a:r>
              <a:rPr lang="en-IN" sz="3600" b="1" i="1">
                <a:solidFill>
                  <a:srgbClr val="CC0066"/>
                </a:solidFill>
                <a:latin typeface="Times New Roman"/>
                <a:cs typeface="Times New Roman"/>
              </a:rPr>
              <a:t>Usage and Social Relevance</a:t>
            </a:r>
          </a:p>
        </p:txBody>
      </p:sp>
      <p:sp>
        <p:nvSpPr>
          <p:cNvPr id="4" name="Subtitle 3">
            <a:extLst>
              <a:ext uri="{FF2B5EF4-FFF2-40B4-BE49-F238E27FC236}">
                <a16:creationId xmlns:a16="http://schemas.microsoft.com/office/drawing/2014/main" id="{932782DB-08C0-9BED-6AE3-3877E0195A78}"/>
              </a:ext>
            </a:extLst>
          </p:cNvPr>
          <p:cNvSpPr>
            <a:spLocks noGrp="1"/>
          </p:cNvSpPr>
          <p:nvPr>
            <p:ph type="subTitle" idx="1"/>
          </p:nvPr>
        </p:nvSpPr>
        <p:spPr>
          <a:xfrm>
            <a:off x="431321" y="1287283"/>
            <a:ext cx="11343735" cy="4387398"/>
          </a:xfrm>
        </p:spPr>
        <p:txBody>
          <a:bodyPr>
            <a:normAutofit/>
          </a:bodyPr>
          <a:lstStyle/>
          <a:p>
            <a:r>
              <a:rPr lang="en-US"/>
              <a:t>Usage:</a:t>
            </a:r>
            <a:br>
              <a:rPr lang="en-US"/>
            </a:br>
            <a:r>
              <a:rPr lang="en-US"/>
              <a:t> The platform is used by city administrators, municipal departments, and field officers to monitor incidents, analyze urban trends, and coordinate responses through a centralized dashboard. Citizens can report issues and track resolution status, enabling efficient two-way interaction with city authorities.</a:t>
            </a:r>
          </a:p>
          <a:p>
            <a:r>
              <a:rPr lang="en-US"/>
              <a:t>Social Relevance:</a:t>
            </a:r>
            <a:br>
              <a:rPr lang="en-US"/>
            </a:br>
            <a:r>
              <a:rPr lang="en-US"/>
              <a:t> The system improves urban quality of life by enabling faster response to civic issues, promoting transparency in governance, and supporting data-driven decision-making. By leveraging AI-assisted insights, the platform helps reduce service delays, optimize resource allocation, and build trust between citizens and public institutions.</a:t>
            </a:r>
          </a:p>
          <a:p>
            <a:endParaRPr lang="en-US"/>
          </a:p>
        </p:txBody>
      </p:sp>
    </p:spTree>
    <p:extLst>
      <p:ext uri="{BB962C8B-B14F-4D97-AF65-F5344CB8AC3E}">
        <p14:creationId xmlns:p14="http://schemas.microsoft.com/office/powerpoint/2010/main" val="3296051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9228278A-7DF3-FE68-653D-F800B2704FD0}"/>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C972BCE9-3FA6-7849-20F4-943101CBBC4C}"/>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pPr>
            <a:r>
              <a:rPr lang="en-IN" b="1" i="1">
                <a:solidFill>
                  <a:srgbClr val="CC0066"/>
                </a:solidFill>
                <a:latin typeface="Times New Roman"/>
                <a:cs typeface="Times New Roman"/>
              </a:rPr>
              <a:t>Industry/Domain</a:t>
            </a:r>
          </a:p>
        </p:txBody>
      </p:sp>
      <p:sp>
        <p:nvSpPr>
          <p:cNvPr id="1042" name="Google Shape;1042;p47">
            <a:extLst>
              <a:ext uri="{FF2B5EF4-FFF2-40B4-BE49-F238E27FC236}">
                <a16:creationId xmlns:a16="http://schemas.microsoft.com/office/drawing/2014/main" id="{D7679658-4388-ACF7-2A21-2164B8E3DCA4}"/>
              </a:ext>
            </a:extLst>
          </p:cNvPr>
          <p:cNvSpPr txBox="1">
            <a:spLocks noGrp="1"/>
          </p:cNvSpPr>
          <p:nvPr>
            <p:ph type="body" idx="1"/>
          </p:nvPr>
        </p:nvSpPr>
        <p:spPr>
          <a:xfrm>
            <a:off x="420282" y="1151254"/>
            <a:ext cx="11926529" cy="4871100"/>
          </a:xfrm>
          <a:prstGeom prst="rect">
            <a:avLst/>
          </a:prstGeom>
          <a:noFill/>
          <a:ln>
            <a:noFill/>
          </a:ln>
        </p:spPr>
        <p:txBody>
          <a:bodyPr spcFirstLastPara="1" wrap="square" lIns="91425" tIns="45700" rIns="91425" bIns="45700" anchor="t" anchorCtr="0">
            <a:noAutofit/>
          </a:bodyPr>
          <a:lstStyle/>
          <a:p>
            <a:r>
              <a:rPr lang="en-US" sz="1800" b="1">
                <a:cs typeface="Times New Roman" panose="02020603050405020304" pitchFamily="18" charset="0"/>
              </a:rPr>
              <a:t>Industry:</a:t>
            </a:r>
            <a:br>
              <a:rPr lang="en-US" sz="1800" b="1">
                <a:cs typeface="Times New Roman" panose="02020603050405020304" pitchFamily="18" charset="0"/>
              </a:rPr>
            </a:br>
            <a:r>
              <a:rPr lang="en-US" sz="1800" b="1">
                <a:cs typeface="Times New Roman" panose="02020603050405020304" pitchFamily="18" charset="0"/>
              </a:rPr>
              <a:t> Smart Cities &amp; Urban Governance</a:t>
            </a:r>
            <a:endParaRPr lang="en-US"/>
          </a:p>
          <a:p>
            <a:r>
              <a:rPr lang="en-US" sz="1800" b="1">
                <a:cs typeface="Times New Roman" panose="02020603050405020304" pitchFamily="18" charset="0"/>
              </a:rPr>
              <a:t>Domain:</a:t>
            </a:r>
            <a:br>
              <a:rPr lang="en-US" sz="1800" b="1">
                <a:cs typeface="Times New Roman" panose="02020603050405020304" pitchFamily="18" charset="0"/>
              </a:rPr>
            </a:br>
            <a:r>
              <a:rPr lang="en-US" sz="1800" b="1">
                <a:cs typeface="Times New Roman" panose="02020603050405020304" pitchFamily="18" charset="0"/>
              </a:rPr>
              <a:t> Full-Stack Web Development, Artificial Intelligence, Data Analytics, Cloud Computing</a:t>
            </a:r>
            <a:endParaRPr lang="en-US"/>
          </a:p>
          <a:p>
            <a:r>
              <a:rPr lang="en-US" sz="1800" b="1">
                <a:cs typeface="Times New Roman" panose="02020603050405020304" pitchFamily="18" charset="0"/>
              </a:rPr>
              <a:t>Application Area:</a:t>
            </a:r>
            <a:br>
              <a:rPr lang="en-US" sz="1800" b="1">
                <a:cs typeface="Times New Roman" panose="02020603050405020304" pitchFamily="18" charset="0"/>
              </a:rPr>
            </a:br>
            <a:r>
              <a:rPr lang="en-US" sz="1800" b="1">
                <a:cs typeface="Times New Roman" panose="02020603050405020304" pitchFamily="18" charset="0"/>
              </a:rPr>
              <a:t> Municipal Operations, Public Safety, Traffic Management, Civic Services</a:t>
            </a:r>
            <a:endParaRPr lang="en-US"/>
          </a:p>
          <a:p>
            <a:r>
              <a:rPr lang="en-US" sz="1800" b="1">
                <a:cs typeface="Times New Roman" panose="02020603050405020304" pitchFamily="18" charset="0"/>
              </a:rPr>
              <a:t>Relevance:</a:t>
            </a:r>
            <a:br>
              <a:rPr lang="en-US" sz="1800" b="1">
                <a:cs typeface="Times New Roman" panose="02020603050405020304" pitchFamily="18" charset="0"/>
              </a:rPr>
            </a:br>
            <a:r>
              <a:rPr lang="en-US" sz="1800" b="1">
                <a:cs typeface="Times New Roman" panose="02020603050405020304" pitchFamily="18" charset="0"/>
              </a:rPr>
              <a:t> The project addresses real-world urban challenges by combining modern full-stack technologies with AI-driven decision support to improve efficiency, transparency, and responsiveness in city administration.</a:t>
            </a:r>
            <a:endParaRPr lang="en-US" b="1"/>
          </a:p>
          <a:p>
            <a:pPr>
              <a:lnSpc>
                <a:spcPct val="150000"/>
              </a:lnSpc>
            </a:pPr>
            <a:endParaRPr lang="en-US"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302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8">
          <a:extLst>
            <a:ext uri="{FF2B5EF4-FFF2-40B4-BE49-F238E27FC236}">
              <a16:creationId xmlns:a16="http://schemas.microsoft.com/office/drawing/2014/main" id="{83FDFD8C-5EA3-233C-73BB-000C97559B44}"/>
            </a:ext>
          </a:extLst>
        </p:cNvPr>
        <p:cNvGrpSpPr/>
        <p:nvPr/>
      </p:nvGrpSpPr>
      <p:grpSpPr>
        <a:xfrm>
          <a:off x="0" y="0"/>
          <a:ext cx="0" cy="0"/>
          <a:chOff x="0" y="0"/>
          <a:chExt cx="0" cy="0"/>
        </a:xfrm>
      </p:grpSpPr>
      <p:sp>
        <p:nvSpPr>
          <p:cNvPr id="1059" name="Google Shape;1059;p50">
            <a:extLst>
              <a:ext uri="{FF2B5EF4-FFF2-40B4-BE49-F238E27FC236}">
                <a16:creationId xmlns:a16="http://schemas.microsoft.com/office/drawing/2014/main" id="{92987F4F-6918-F745-D38E-EA2E18D3E2D0}"/>
              </a:ext>
            </a:extLst>
          </p:cNvPr>
          <p:cNvSpPr txBox="1">
            <a:spLocks noGrp="1"/>
          </p:cNvSpPr>
          <p:nvPr>
            <p:ph type="body" idx="1"/>
          </p:nvPr>
        </p:nvSpPr>
        <p:spPr>
          <a:xfrm>
            <a:off x="234193" y="1194745"/>
            <a:ext cx="11451600" cy="4169400"/>
          </a:xfrm>
          <a:prstGeom prst="rect">
            <a:avLst/>
          </a:prstGeom>
          <a:noFill/>
          <a:ln>
            <a:noFill/>
          </a:ln>
        </p:spPr>
        <p:txBody>
          <a:bodyPr spcFirstLastPara="1" wrap="square" lIns="91425" tIns="45700" rIns="91425" bIns="45700" anchor="t" anchorCtr="0">
            <a:noAutofit/>
          </a:bodyPr>
          <a:lstStyle/>
          <a:p>
            <a:r>
              <a:rPr lang="en-US" sz="1800">
                <a:cs typeface="Times New Roman" panose="02020603050405020304" pitchFamily="18" charset="0"/>
              </a:rPr>
              <a:t>The project is a </a:t>
            </a:r>
            <a:r>
              <a:rPr lang="en-US" sz="1800" b="1">
                <a:cs typeface="Times New Roman" panose="02020603050405020304" pitchFamily="18" charset="0"/>
              </a:rPr>
              <a:t>full-stack web application</a:t>
            </a:r>
            <a:r>
              <a:rPr lang="en-US" sz="1800">
                <a:cs typeface="Times New Roman" panose="02020603050405020304" pitchFamily="18" charset="0"/>
              </a:rPr>
              <a:t> that functions as an </a:t>
            </a:r>
            <a:r>
              <a:rPr lang="en-US" sz="1800" b="1">
                <a:cs typeface="Times New Roman" panose="02020603050405020304" pitchFamily="18" charset="0"/>
              </a:rPr>
              <a:t>AI-assisted decision support platform</a:t>
            </a:r>
            <a:r>
              <a:rPr lang="en-US" sz="1800">
                <a:cs typeface="Times New Roman" panose="02020603050405020304" pitchFamily="18" charset="0"/>
              </a:rPr>
              <a:t>. Users interact with the system by entering incidents, issues, or concerns related to city operations. The system processes this input and provides actionable insights such as:</a:t>
            </a:r>
            <a:endParaRPr lang="en-US"/>
          </a:p>
          <a:p>
            <a:r>
              <a:rPr lang="en-US" sz="1800">
                <a:cs typeface="Times New Roman" panose="02020603050405020304" pitchFamily="18" charset="0"/>
              </a:rPr>
              <a:t>Incident classification and priority level</a:t>
            </a:r>
            <a:endParaRPr lang="en-US"/>
          </a:p>
          <a:p>
            <a:r>
              <a:rPr lang="en-US" sz="1800">
                <a:cs typeface="Times New Roman" panose="02020603050405020304" pitchFamily="18" charset="0"/>
              </a:rPr>
              <a:t>Responsible municipal department suggestions</a:t>
            </a:r>
            <a:endParaRPr lang="en-US"/>
          </a:p>
          <a:p>
            <a:r>
              <a:rPr lang="en-US" sz="1800">
                <a:cs typeface="Times New Roman" panose="02020603050405020304" pitchFamily="18" charset="0"/>
              </a:rPr>
              <a:t>Historical resolution patterns</a:t>
            </a:r>
            <a:endParaRPr lang="en-US"/>
          </a:p>
          <a:p>
            <a:r>
              <a:rPr lang="en-US" sz="1800">
                <a:cs typeface="Times New Roman" panose="02020603050405020304" pitchFamily="18" charset="0"/>
              </a:rPr>
              <a:t>Common risks and recurring urban issues</a:t>
            </a:r>
            <a:endParaRPr lang="en-US"/>
          </a:p>
          <a:p>
            <a:r>
              <a:rPr lang="en-US" sz="1800">
                <a:cs typeface="Times New Roman" panose="02020603050405020304" pitchFamily="18" charset="0"/>
              </a:rPr>
              <a:t>Trend analysis based on past city data</a:t>
            </a:r>
            <a:endParaRPr lang="en-US"/>
          </a:p>
          <a:p>
            <a:r>
              <a:rPr lang="en-US" sz="1800">
                <a:cs typeface="Times New Roman" panose="02020603050405020304" pitchFamily="18" charset="0"/>
              </a:rPr>
              <a:t>The platform uses </a:t>
            </a:r>
            <a:r>
              <a:rPr lang="en-US" sz="1800" b="1">
                <a:cs typeface="Times New Roman" panose="02020603050405020304" pitchFamily="18" charset="0"/>
              </a:rPr>
              <a:t>anonymized historical city data</a:t>
            </a:r>
            <a:r>
              <a:rPr lang="en-US" sz="1800">
                <a:cs typeface="Times New Roman" panose="02020603050405020304" pitchFamily="18" charset="0"/>
              </a:rPr>
              <a:t> as reference input, reducing dependency on real-time public reporting while maintaining data reliability and trust.</a:t>
            </a:r>
            <a:endParaRPr lang="en-US"/>
          </a:p>
          <a:p>
            <a:pPr lvl="0" algn="l">
              <a:lnSpc>
                <a:spcPct val="150000"/>
              </a:lnSpc>
              <a:spcAft>
                <a:spcPts val="0"/>
              </a:spcAft>
              <a:buClr>
                <a:schemeClr val="dk1"/>
              </a:buClr>
            </a:pPr>
            <a:endParaRPr lang="en-US" sz="1800">
              <a:latin typeface="Times New Roman" panose="02020603050405020304" pitchFamily="18" charset="0"/>
              <a:cs typeface="Times New Roman" panose="02020603050405020304" pitchFamily="18" charset="0"/>
            </a:endParaRPr>
          </a:p>
        </p:txBody>
      </p:sp>
      <p:sp>
        <p:nvSpPr>
          <p:cNvPr id="1060" name="Google Shape;1060;p50">
            <a:extLst>
              <a:ext uri="{FF2B5EF4-FFF2-40B4-BE49-F238E27FC236}">
                <a16:creationId xmlns:a16="http://schemas.microsoft.com/office/drawing/2014/main" id="{61A0E336-222B-CA5C-78A1-8B399C063457}"/>
              </a:ext>
            </a:extLst>
          </p:cNvPr>
          <p:cNvSpPr txBox="1">
            <a:spLocks noGrp="1"/>
          </p:cNvSpPr>
          <p:nvPr>
            <p:ph type="title"/>
          </p:nvPr>
        </p:nvSpPr>
        <p:spPr>
          <a:xfrm>
            <a:off x="376433" y="238566"/>
            <a:ext cx="10515600" cy="625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Project Overview</a:t>
            </a:r>
            <a:endParaRPr sz="3600" i="1"/>
          </a:p>
        </p:txBody>
      </p:sp>
    </p:spTree>
    <p:extLst>
      <p:ext uri="{BB962C8B-B14F-4D97-AF65-F5344CB8AC3E}">
        <p14:creationId xmlns:p14="http://schemas.microsoft.com/office/powerpoint/2010/main" val="3082125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2">
          <a:extLst>
            <a:ext uri="{FF2B5EF4-FFF2-40B4-BE49-F238E27FC236}">
              <a16:creationId xmlns:a16="http://schemas.microsoft.com/office/drawing/2014/main" id="{173110A2-F824-50C2-0924-F646B60E7F92}"/>
            </a:ext>
          </a:extLst>
        </p:cNvPr>
        <p:cNvGrpSpPr/>
        <p:nvPr/>
      </p:nvGrpSpPr>
      <p:grpSpPr>
        <a:xfrm>
          <a:off x="0" y="0"/>
          <a:ext cx="0" cy="0"/>
          <a:chOff x="0" y="0"/>
          <a:chExt cx="0" cy="0"/>
        </a:xfrm>
      </p:grpSpPr>
      <p:sp>
        <p:nvSpPr>
          <p:cNvPr id="1073" name="Google Shape;1073;p52">
            <a:extLst>
              <a:ext uri="{FF2B5EF4-FFF2-40B4-BE49-F238E27FC236}">
                <a16:creationId xmlns:a16="http://schemas.microsoft.com/office/drawing/2014/main" id="{80BF936C-F1FA-4997-228B-26C8BEB2BAE7}"/>
              </a:ext>
            </a:extLst>
          </p:cNvPr>
          <p:cNvSpPr txBox="1">
            <a:spLocks noGrp="1"/>
          </p:cNvSpPr>
          <p:nvPr>
            <p:ph type="title"/>
          </p:nvPr>
        </p:nvSpPr>
        <p:spPr>
          <a:xfrm>
            <a:off x="462767" y="108990"/>
            <a:ext cx="6527967" cy="726600"/>
          </a:xfrm>
          <a:prstGeom prst="rect">
            <a:avLst/>
          </a:prstGeom>
          <a:noFill/>
          <a:ln>
            <a:noFill/>
          </a:ln>
        </p:spPr>
        <p:txBody>
          <a:bodyPr spcFirstLastPara="1" wrap="square" lIns="91425" tIns="45700" rIns="91425" bIns="45700" anchor="ctr" anchorCtr="0">
            <a:normAutofit/>
          </a:bodyPr>
          <a:lstStyle/>
          <a:p>
            <a:pPr>
              <a:buClr>
                <a:srgbClr val="CC0066"/>
              </a:buClr>
              <a:buSzPts val="3600"/>
            </a:pPr>
            <a:r>
              <a:rPr lang="en-IN" sz="3600" b="1" i="1">
                <a:solidFill>
                  <a:srgbClr val="CC0066"/>
                </a:solidFill>
                <a:latin typeface="Times New Roman"/>
                <a:cs typeface="Times New Roman"/>
              </a:rPr>
              <a:t>User Questioned Addressed</a:t>
            </a:r>
          </a:p>
        </p:txBody>
      </p:sp>
      <p:sp>
        <p:nvSpPr>
          <p:cNvPr id="1074" name="Google Shape;1074;p52">
            <a:extLst>
              <a:ext uri="{FF2B5EF4-FFF2-40B4-BE49-F238E27FC236}">
                <a16:creationId xmlns:a16="http://schemas.microsoft.com/office/drawing/2014/main" id="{A8EEEADA-9F4E-8610-175F-31752F8EADD0}"/>
              </a:ext>
            </a:extLst>
          </p:cNvPr>
          <p:cNvSpPr txBox="1">
            <a:spLocks noGrp="1"/>
          </p:cNvSpPr>
          <p:nvPr>
            <p:ph type="body" idx="1"/>
          </p:nvPr>
        </p:nvSpPr>
        <p:spPr>
          <a:xfrm>
            <a:off x="462767" y="835590"/>
            <a:ext cx="10870213" cy="5273738"/>
          </a:xfrm>
          <a:prstGeom prst="rect">
            <a:avLst/>
          </a:prstGeom>
          <a:noFill/>
          <a:ln>
            <a:noFill/>
          </a:ln>
        </p:spPr>
        <p:txBody>
          <a:bodyPr spcFirstLastPara="1" wrap="square" lIns="91425" tIns="45700" rIns="91425" bIns="45700" anchor="t" anchorCtr="0">
            <a:noAutofit/>
          </a:bodyPr>
          <a:lstStyle/>
          <a:p>
            <a:pPr>
              <a:buNone/>
            </a:pPr>
            <a:r>
              <a:rPr lang="en-US" sz="1600" b="1"/>
              <a:t>Analytical Questions</a:t>
            </a:r>
            <a:endParaRPr lang="en-US" sz="1600"/>
          </a:p>
          <a:p>
            <a:pPr marL="285750" indent="-285750"/>
            <a:r>
              <a:rPr lang="en-US" sz="1600">
                <a:cs typeface="Times New Roman"/>
              </a:rPr>
              <a:t>Which areas generate the highest number of complaints?</a:t>
            </a:r>
          </a:p>
          <a:p>
            <a:pPr marL="285750" indent="-285750"/>
            <a:r>
              <a:rPr lang="en-US" sz="1600">
                <a:cs typeface="Times New Roman"/>
              </a:rPr>
              <a:t>What types of incidents occur most frequently?</a:t>
            </a:r>
          </a:p>
          <a:p>
            <a:pPr marL="285750" indent="-285750"/>
            <a:r>
              <a:rPr lang="en-US" sz="1600">
                <a:cs typeface="Times New Roman"/>
              </a:rPr>
              <a:t>How does incident frequency vary by time and location?</a:t>
            </a:r>
          </a:p>
          <a:p>
            <a:pPr marL="285750" indent="-285750"/>
            <a:r>
              <a:rPr lang="en-US" sz="1600">
                <a:cs typeface="Times New Roman"/>
              </a:rPr>
              <a:t>Which departments experience the highest workload?</a:t>
            </a:r>
          </a:p>
          <a:p>
            <a:pPr>
              <a:buNone/>
            </a:pPr>
            <a:r>
              <a:rPr lang="en-US" sz="1600" b="1"/>
              <a:t>Predictive Questions</a:t>
            </a:r>
            <a:endParaRPr lang="en-US" sz="1600"/>
          </a:p>
          <a:p>
            <a:pPr marL="285750" indent="-285750"/>
            <a:r>
              <a:rPr lang="en-US" sz="1600">
                <a:cs typeface="Times New Roman"/>
              </a:rPr>
              <a:t>Which zones are likely to face congestion or emergencies next?</a:t>
            </a:r>
          </a:p>
          <a:p>
            <a:pPr marL="285750" indent="-285750"/>
            <a:r>
              <a:rPr lang="en-US" sz="1600">
                <a:cs typeface="Times New Roman"/>
              </a:rPr>
              <a:t>Can future incident hotspots be predicted using historical data?</a:t>
            </a:r>
          </a:p>
          <a:p>
            <a:pPr marL="285750" indent="-285750"/>
            <a:r>
              <a:rPr lang="en-US" sz="1600">
                <a:cs typeface="Times New Roman"/>
              </a:rPr>
              <a:t>How might weather conditions impact city operations?</a:t>
            </a:r>
          </a:p>
          <a:p>
            <a:pPr marL="285750" indent="-285750"/>
            <a:r>
              <a:rPr lang="en-US" sz="1600">
                <a:cs typeface="Times New Roman"/>
              </a:rPr>
              <a:t>What trends indicate potential risks in the near future?</a:t>
            </a:r>
          </a:p>
          <a:p>
            <a:pPr>
              <a:buNone/>
            </a:pPr>
            <a:r>
              <a:rPr lang="en-US" sz="1600" b="1"/>
              <a:t>User-Specific Questions</a:t>
            </a:r>
            <a:endParaRPr lang="en-US" sz="1600"/>
          </a:p>
          <a:p>
            <a:pPr marL="285750" indent="-285750"/>
            <a:r>
              <a:rPr lang="en-US" sz="1600">
                <a:cs typeface="Times New Roman"/>
              </a:rPr>
              <a:t>Has my complaint been acknowledged or resolved?</a:t>
            </a:r>
          </a:p>
          <a:p>
            <a:pPr marL="285750" indent="-285750"/>
            <a:r>
              <a:rPr lang="en-US" sz="1600">
                <a:cs typeface="Times New Roman"/>
              </a:rPr>
              <a:t>How long will it take to resolve my issue?</a:t>
            </a:r>
          </a:p>
          <a:p>
            <a:pPr marL="285750" indent="-285750"/>
            <a:r>
              <a:rPr lang="en-US" sz="1600">
                <a:cs typeface="Times New Roman"/>
              </a:rPr>
              <a:t>Who is handling my request?</a:t>
            </a:r>
          </a:p>
          <a:p>
            <a:pPr marL="285750" indent="-285750"/>
            <a:r>
              <a:rPr lang="en-US" sz="1600">
                <a:cs typeface="Times New Roman"/>
              </a:rPr>
              <a:t>Are there similar incidents near my location?</a:t>
            </a:r>
          </a:p>
          <a:p>
            <a:pPr marL="50800" indent="0">
              <a:lnSpc>
                <a:spcPct val="100000"/>
              </a:lnSpc>
              <a:buNone/>
            </a:pPr>
            <a:endParaRPr lang="en-US" sz="1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137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49957B65-52A4-31F5-59C0-5AA45AE1329D}"/>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D5407774-ABA4-764A-9577-294FCF78931C}"/>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pPr>
            <a:r>
              <a:rPr lang="en-IN" b="1" i="1">
                <a:solidFill>
                  <a:srgbClr val="CC0066"/>
                </a:solidFill>
                <a:latin typeface="Times New Roman"/>
                <a:cs typeface="Times New Roman"/>
              </a:rPr>
              <a:t>Role of AI </a:t>
            </a:r>
          </a:p>
        </p:txBody>
      </p:sp>
      <p:sp>
        <p:nvSpPr>
          <p:cNvPr id="1042" name="Google Shape;1042;p47">
            <a:extLst>
              <a:ext uri="{FF2B5EF4-FFF2-40B4-BE49-F238E27FC236}">
                <a16:creationId xmlns:a16="http://schemas.microsoft.com/office/drawing/2014/main" id="{D8196F49-5862-B06C-0308-7599E1E2AFF9}"/>
              </a:ext>
            </a:extLst>
          </p:cNvPr>
          <p:cNvSpPr txBox="1">
            <a:spLocks noGrp="1"/>
          </p:cNvSpPr>
          <p:nvPr>
            <p:ph type="body" idx="1"/>
          </p:nvPr>
        </p:nvSpPr>
        <p:spPr>
          <a:xfrm>
            <a:off x="290886" y="993103"/>
            <a:ext cx="11394567" cy="4871100"/>
          </a:xfrm>
          <a:prstGeom prst="rect">
            <a:avLst/>
          </a:prstGeom>
          <a:noFill/>
          <a:ln>
            <a:noFill/>
          </a:ln>
        </p:spPr>
        <p:txBody>
          <a:bodyPr spcFirstLastPara="1" wrap="square" lIns="91425" tIns="45700" rIns="91425" bIns="45700" anchor="t" anchorCtr="0">
            <a:noAutofit/>
          </a:bodyPr>
          <a:lstStyle/>
          <a:p>
            <a:pPr>
              <a:buNone/>
            </a:pPr>
            <a:r>
              <a:rPr lang="en-US" sz="2400">
                <a:solidFill>
                  <a:schemeClr val="tx1"/>
                </a:solidFill>
                <a:cs typeface="Times New Roman"/>
              </a:rPr>
              <a:t>Artificial Intelligence plays a central role in enhancing the system’s decision-making and automation capabilities. AI is used to analyze unstructured and structured data from multiple urban sources and convert it into meaningful insights.</a:t>
            </a:r>
            <a:endParaRPr lang="en-US" sz="2400">
              <a:solidFill>
                <a:schemeClr val="tx1"/>
              </a:solidFill>
            </a:endParaRPr>
          </a:p>
          <a:p>
            <a:pPr>
              <a:buNone/>
            </a:pPr>
            <a:r>
              <a:rPr lang="en-US" sz="2400" b="1">
                <a:solidFill>
                  <a:schemeClr val="tx1"/>
                </a:solidFill>
                <a:cs typeface="Times New Roman"/>
              </a:rPr>
              <a:t>Key roles of AI in the system include:</a:t>
            </a:r>
            <a:endParaRPr lang="en-US" sz="2400" b="1">
              <a:solidFill>
                <a:schemeClr val="tx1"/>
              </a:solidFill>
            </a:endParaRPr>
          </a:p>
          <a:p>
            <a:pPr marL="285750" indent="-285750"/>
            <a:r>
              <a:rPr lang="en-US" sz="2400">
                <a:solidFill>
                  <a:schemeClr val="tx1"/>
                </a:solidFill>
                <a:cs typeface="Arial"/>
              </a:rPr>
              <a:t>Intelligent classification and prioritization of incidents</a:t>
            </a:r>
            <a:endParaRPr lang="en-US" sz="2400">
              <a:solidFill>
                <a:schemeClr val="tx1"/>
              </a:solidFill>
            </a:endParaRPr>
          </a:p>
          <a:p>
            <a:pPr marL="285750" indent="-285750"/>
            <a:r>
              <a:rPr lang="en-US" sz="2400">
                <a:solidFill>
                  <a:schemeClr val="tx1"/>
                </a:solidFill>
                <a:cs typeface="Arial"/>
              </a:rPr>
              <a:t>Pattern and trend analysis from historical data</a:t>
            </a:r>
            <a:endParaRPr lang="en-US" sz="2400">
              <a:solidFill>
                <a:schemeClr val="tx1"/>
              </a:solidFill>
            </a:endParaRPr>
          </a:p>
          <a:p>
            <a:pPr marL="285750" indent="-285750"/>
            <a:r>
              <a:rPr lang="en-US" sz="2400">
                <a:solidFill>
                  <a:schemeClr val="tx1"/>
                </a:solidFill>
                <a:cs typeface="Arial"/>
              </a:rPr>
              <a:t>Risk identification and anomaly detection</a:t>
            </a:r>
            <a:endParaRPr lang="en-US" sz="2400">
              <a:solidFill>
                <a:schemeClr val="tx1"/>
              </a:solidFill>
            </a:endParaRPr>
          </a:p>
          <a:p>
            <a:pPr marL="285750" indent="-285750"/>
            <a:r>
              <a:rPr lang="en-US" sz="2400">
                <a:solidFill>
                  <a:schemeClr val="tx1"/>
                </a:solidFill>
                <a:cs typeface="Arial"/>
              </a:rPr>
              <a:t>Predictive insights for proactive city management</a:t>
            </a:r>
            <a:endParaRPr lang="en-US" sz="2400">
              <a:solidFill>
                <a:schemeClr val="tx1"/>
              </a:solidFill>
            </a:endParaRPr>
          </a:p>
          <a:p>
            <a:pPr marL="285750" indent="-285750"/>
            <a:r>
              <a:rPr lang="en-US" sz="2400">
                <a:solidFill>
                  <a:schemeClr val="tx1"/>
                </a:solidFill>
                <a:cs typeface="Arial"/>
              </a:rPr>
              <a:t>Automated summarization and decision support for administrators</a:t>
            </a:r>
            <a:endParaRPr lang="en-US" sz="2400">
              <a:solidFill>
                <a:schemeClr val="tx1"/>
              </a:solidFill>
            </a:endParaRPr>
          </a:p>
          <a:p>
            <a:pPr indent="0">
              <a:buNone/>
            </a:pPr>
            <a:r>
              <a:rPr lang="en-US" sz="2400">
                <a:solidFill>
                  <a:schemeClr val="tx1"/>
                </a:solidFill>
              </a:rPr>
              <a:t>By incorporating AI, the platform moves beyond simple data monitoring to provide intelligent, context-aware assistance for efficient and informed urban governance.</a:t>
            </a:r>
          </a:p>
          <a:p>
            <a:pPr marL="50800" indent="0">
              <a:buNone/>
            </a:pPr>
            <a:endParaRPr lang="en-US" sz="2400">
              <a:solidFill>
                <a:schemeClr val="tx1"/>
              </a:solidFill>
              <a:cs typeface="Times New Roman"/>
            </a:endParaRPr>
          </a:p>
        </p:txBody>
      </p:sp>
    </p:spTree>
    <p:extLst>
      <p:ext uri="{BB962C8B-B14F-4D97-AF65-F5344CB8AC3E}">
        <p14:creationId xmlns:p14="http://schemas.microsoft.com/office/powerpoint/2010/main" val="3066873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F92FBD62-038E-79AB-BC26-9947868D0072}"/>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A3A4D510-FC54-8165-EF0C-3A8422D52A24}"/>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pPr>
            <a:r>
              <a:rPr lang="en-IN" b="1" i="1">
                <a:solidFill>
                  <a:srgbClr val="CC0066"/>
                </a:solidFill>
                <a:latin typeface="Times New Roman"/>
                <a:cs typeface="Times New Roman"/>
              </a:rPr>
              <a:t>AI Techniques Used</a:t>
            </a:r>
          </a:p>
        </p:txBody>
      </p:sp>
      <p:sp>
        <p:nvSpPr>
          <p:cNvPr id="1042" name="Google Shape;1042;p47">
            <a:extLst>
              <a:ext uri="{FF2B5EF4-FFF2-40B4-BE49-F238E27FC236}">
                <a16:creationId xmlns:a16="http://schemas.microsoft.com/office/drawing/2014/main" id="{F47B38A1-F163-F187-C821-01AA540CD1C3}"/>
              </a:ext>
            </a:extLst>
          </p:cNvPr>
          <p:cNvSpPr txBox="1">
            <a:spLocks noGrp="1"/>
          </p:cNvSpPr>
          <p:nvPr>
            <p:ph type="body" idx="1"/>
          </p:nvPr>
        </p:nvSpPr>
        <p:spPr>
          <a:xfrm>
            <a:off x="132735" y="1295027"/>
            <a:ext cx="11926529" cy="4871100"/>
          </a:xfrm>
          <a:prstGeom prst="rect">
            <a:avLst/>
          </a:prstGeom>
          <a:noFill/>
          <a:ln>
            <a:noFill/>
          </a:ln>
        </p:spPr>
        <p:txBody>
          <a:bodyPr spcFirstLastPara="1" wrap="square" lIns="91425" tIns="45700" rIns="91425" bIns="45700" anchor="t" anchorCtr="0">
            <a:noAutofit/>
          </a:bodyPr>
          <a:lstStyle/>
          <a:p>
            <a:r>
              <a:rPr lang="en-US" sz="1800">
                <a:cs typeface="Times New Roman"/>
              </a:rPr>
              <a:t>The system employs a combination of AI techniques to support intelligent analysis and decision-making across city operations.</a:t>
            </a:r>
            <a:endParaRPr lang="en-US">
              <a:cs typeface="Times New Roman"/>
            </a:endParaRPr>
          </a:p>
          <a:p>
            <a:r>
              <a:rPr lang="en-US" sz="1800">
                <a:cs typeface="Times New Roman"/>
              </a:rPr>
              <a:t>Techniques used include:</a:t>
            </a:r>
            <a:endParaRPr lang="en-US"/>
          </a:p>
          <a:p>
            <a:r>
              <a:rPr lang="en-US" sz="1800">
                <a:cs typeface="Times New Roman"/>
              </a:rPr>
              <a:t>Natural Language Processing (NLP):</a:t>
            </a:r>
            <a:br>
              <a:rPr lang="en-US" sz="1800">
                <a:cs typeface="Times New Roman"/>
              </a:rPr>
            </a:br>
            <a:r>
              <a:rPr lang="en-US" sz="1800">
                <a:cs typeface="Times New Roman"/>
              </a:rPr>
              <a:t> To understand and classify text-based inputs such as citizen complaints and reports.</a:t>
            </a:r>
            <a:endParaRPr lang="en-US"/>
          </a:p>
          <a:p>
            <a:r>
              <a:rPr lang="en-US" sz="1800">
                <a:cs typeface="Times New Roman"/>
              </a:rPr>
              <a:t>Large Language Models (LLMs):</a:t>
            </a:r>
            <a:br>
              <a:rPr lang="en-US" sz="1800">
                <a:cs typeface="Times New Roman"/>
              </a:rPr>
            </a:br>
            <a:r>
              <a:rPr lang="en-US" sz="1800">
                <a:cs typeface="Times New Roman"/>
              </a:rPr>
              <a:t> To perform semantic analysis, summarization, and context-aware decision support.</a:t>
            </a:r>
            <a:endParaRPr lang="en-US"/>
          </a:p>
          <a:p>
            <a:r>
              <a:rPr lang="en-US" sz="1800">
                <a:cs typeface="Times New Roman"/>
              </a:rPr>
              <a:t>Rule-Based Reasoning:</a:t>
            </a:r>
            <a:br>
              <a:rPr lang="en-US" sz="1800">
                <a:cs typeface="Times New Roman"/>
              </a:rPr>
            </a:br>
            <a:r>
              <a:rPr lang="en-US" sz="1800">
                <a:cs typeface="Times New Roman"/>
              </a:rPr>
              <a:t> To enforce governance rules, priorities, and department-specific workflows.</a:t>
            </a:r>
            <a:endParaRPr lang="en-US"/>
          </a:p>
          <a:p>
            <a:r>
              <a:rPr lang="en-US" sz="1800">
                <a:cs typeface="Times New Roman"/>
              </a:rPr>
              <a:t>Predictive Analytics:</a:t>
            </a:r>
            <a:br>
              <a:rPr lang="en-US" sz="1800">
                <a:cs typeface="Times New Roman"/>
              </a:rPr>
            </a:br>
            <a:r>
              <a:rPr lang="en-US" sz="1800">
                <a:cs typeface="Times New Roman"/>
              </a:rPr>
              <a:t> To identify trends, forecast incident hotspots, and support proactive planning.</a:t>
            </a:r>
            <a:endParaRPr lang="en-US"/>
          </a:p>
          <a:p>
            <a:r>
              <a:rPr lang="en-US" sz="1800">
                <a:cs typeface="Times New Roman"/>
              </a:rPr>
              <a:t>Anomaly Detection:</a:t>
            </a:r>
            <a:br>
              <a:rPr lang="en-US" sz="1800">
                <a:cs typeface="Times New Roman"/>
              </a:rPr>
            </a:br>
            <a:r>
              <a:rPr lang="en-US" sz="1800">
                <a:cs typeface="Times New Roman"/>
              </a:rPr>
              <a:t> To detect unusual patterns or critical situations requiring immediate attention.</a:t>
            </a:r>
            <a:endParaRPr lang="en-US"/>
          </a:p>
          <a:p>
            <a:r>
              <a:rPr lang="en-US" sz="1800">
                <a:cs typeface="Times New Roman"/>
              </a:rPr>
              <a:t>These techniques work together to provide accurate, scalable, and intelligent system behavior.</a:t>
            </a:r>
            <a:endParaRPr lang="en-US"/>
          </a:p>
          <a:p>
            <a:pPr>
              <a:lnSpc>
                <a:spcPct val="200000"/>
              </a:lnSpc>
            </a:pPr>
            <a:endParaRPr lang="en-US"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9076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8B0CA92C-58DC-D78A-ABB4-D9EDEE09F06A}"/>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1B0707B3-1EF7-F927-31EF-B94016486CF9}"/>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pPr>
            <a:r>
              <a:rPr lang="en-US" b="1" i="1">
                <a:solidFill>
                  <a:srgbClr val="CC0066"/>
                </a:solidFill>
                <a:latin typeface="Times New Roman"/>
                <a:cs typeface="Times New Roman"/>
              </a:rPr>
              <a:t>Algorithms Used</a:t>
            </a:r>
          </a:p>
        </p:txBody>
      </p:sp>
      <p:graphicFrame>
        <p:nvGraphicFramePr>
          <p:cNvPr id="2" name="Table 1">
            <a:extLst>
              <a:ext uri="{FF2B5EF4-FFF2-40B4-BE49-F238E27FC236}">
                <a16:creationId xmlns:a16="http://schemas.microsoft.com/office/drawing/2014/main" id="{8157AC7A-7284-37AA-F4BA-08982ABDB8EB}"/>
              </a:ext>
            </a:extLst>
          </p:cNvPr>
          <p:cNvGraphicFramePr>
            <a:graphicFrameLocks noGrp="1"/>
          </p:cNvGraphicFramePr>
          <p:nvPr>
            <p:extLst>
              <p:ext uri="{D42A27DB-BD31-4B8C-83A1-F6EECF244321}">
                <p14:modId xmlns:p14="http://schemas.microsoft.com/office/powerpoint/2010/main" val="3195822590"/>
              </p:ext>
            </p:extLst>
          </p:nvPr>
        </p:nvGraphicFramePr>
        <p:xfrm>
          <a:off x="891396" y="1394603"/>
          <a:ext cx="8738352" cy="4846320"/>
        </p:xfrm>
        <a:graphic>
          <a:graphicData uri="http://schemas.openxmlformats.org/drawingml/2006/table">
            <a:tbl>
              <a:tblPr firstRow="1" bandRow="1">
                <a:tableStyleId>{B229F12B-DD2F-434A-8BDD-88915C9BCD54}</a:tableStyleId>
              </a:tblPr>
              <a:tblGrid>
                <a:gridCol w="2912784">
                  <a:extLst>
                    <a:ext uri="{9D8B030D-6E8A-4147-A177-3AD203B41FA5}">
                      <a16:colId xmlns:a16="http://schemas.microsoft.com/office/drawing/2014/main" val="2882360334"/>
                    </a:ext>
                  </a:extLst>
                </a:gridCol>
                <a:gridCol w="2912784">
                  <a:extLst>
                    <a:ext uri="{9D8B030D-6E8A-4147-A177-3AD203B41FA5}">
                      <a16:colId xmlns:a16="http://schemas.microsoft.com/office/drawing/2014/main" val="4273342243"/>
                    </a:ext>
                  </a:extLst>
                </a:gridCol>
                <a:gridCol w="2912784">
                  <a:extLst>
                    <a:ext uri="{9D8B030D-6E8A-4147-A177-3AD203B41FA5}">
                      <a16:colId xmlns:a16="http://schemas.microsoft.com/office/drawing/2014/main" val="735999026"/>
                    </a:ext>
                  </a:extLst>
                </a:gridCol>
              </a:tblGrid>
              <a:tr h="3811660">
                <a:tc>
                  <a:txBody>
                    <a:bodyPr/>
                    <a:lstStyle/>
                    <a:p>
                      <a:pPr lvl="0" algn="l">
                        <a:lnSpc>
                          <a:spcPct val="100000"/>
                        </a:lnSpc>
                        <a:spcBef>
                          <a:spcPts val="0"/>
                        </a:spcBef>
                        <a:spcAft>
                          <a:spcPts val="0"/>
                        </a:spcAft>
                        <a:buNone/>
                      </a:pPr>
                      <a:r>
                        <a:rPr lang="en-US" sz="2400" b="1"/>
                        <a:t>1. LLM (Gemma/Gemini-based multi-agent system)</a:t>
                      </a:r>
                      <a:endParaRPr lang="en-US" sz="2400"/>
                    </a:p>
                    <a:p>
                      <a:pPr lvl="0" algn="l">
                        <a:lnSpc>
                          <a:spcPct val="100000"/>
                        </a:lnSpc>
                        <a:spcBef>
                          <a:spcPts val="0"/>
                        </a:spcBef>
                        <a:spcAft>
                          <a:spcPts val="0"/>
                        </a:spcAft>
                        <a:buNone/>
                      </a:pPr>
                      <a:r>
                        <a:rPr lang="en-US" sz="2400" b="0" i="0" u="none" strike="noStrike" noProof="0">
                          <a:latin typeface="Calibri"/>
                        </a:rPr>
                        <a:t>Purpose:</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Natural-language reasoning</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Incident classification</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Summarization</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Sentiment extraction</a:t>
                      </a:r>
                      <a:endParaRPr lang="en-US" sz="2400"/>
                    </a:p>
                    <a:p>
                      <a:pPr lvl="0">
                        <a:buNone/>
                      </a:pPr>
                      <a:endParaRPr lang="en-US" sz="2400"/>
                    </a:p>
                  </a:txBody>
                  <a:tcPr/>
                </a:tc>
                <a:tc>
                  <a:txBody>
                    <a:bodyPr/>
                    <a:lstStyle/>
                    <a:p>
                      <a:pPr lvl="0" algn="l">
                        <a:lnSpc>
                          <a:spcPct val="100000"/>
                        </a:lnSpc>
                        <a:spcBef>
                          <a:spcPts val="0"/>
                        </a:spcBef>
                        <a:spcAft>
                          <a:spcPts val="0"/>
                        </a:spcAft>
                        <a:buNone/>
                      </a:pPr>
                      <a:r>
                        <a:rPr lang="en-US" sz="2400" b="1"/>
                        <a:t>2. Deep Learning (Predictive Model)</a:t>
                      </a:r>
                      <a:endParaRPr lang="en-US" sz="2400"/>
                    </a:p>
                    <a:p>
                      <a:pPr lvl="0" algn="l">
                        <a:lnSpc>
                          <a:spcPct val="100000"/>
                        </a:lnSpc>
                        <a:spcBef>
                          <a:spcPts val="0"/>
                        </a:spcBef>
                        <a:spcAft>
                          <a:spcPts val="0"/>
                        </a:spcAft>
                        <a:buNone/>
                      </a:pPr>
                      <a:r>
                        <a:rPr lang="en-US" sz="2400" b="0" i="0" u="none" strike="noStrike" noProof="0">
                          <a:latin typeface="Calibri"/>
                        </a:rPr>
                        <a:t>Purpose:</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Forecasting incident hotspots</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Pattern recognition</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Time-series trend detection</a:t>
                      </a:r>
                      <a:endParaRPr lang="en-US" sz="2400"/>
                    </a:p>
                    <a:p>
                      <a:pPr lvl="0">
                        <a:buNone/>
                      </a:pPr>
                      <a:endParaRPr lang="en-US" sz="2400"/>
                    </a:p>
                  </a:txBody>
                  <a:tcPr/>
                </a:tc>
                <a:tc>
                  <a:txBody>
                    <a:bodyPr/>
                    <a:lstStyle/>
                    <a:p>
                      <a:pPr lvl="0" algn="l">
                        <a:lnSpc>
                          <a:spcPct val="100000"/>
                        </a:lnSpc>
                        <a:spcBef>
                          <a:spcPts val="0"/>
                        </a:spcBef>
                        <a:spcAft>
                          <a:spcPts val="0"/>
                        </a:spcAft>
                        <a:buNone/>
                      </a:pPr>
                      <a:r>
                        <a:rPr lang="en-US" sz="2400" b="1"/>
                        <a:t>3. Geospatial Algorithms</a:t>
                      </a:r>
                      <a:endParaRPr lang="en-US" sz="2400"/>
                    </a:p>
                    <a:p>
                      <a:pPr lvl="0" algn="l">
                        <a:lnSpc>
                          <a:spcPct val="100000"/>
                        </a:lnSpc>
                        <a:spcBef>
                          <a:spcPts val="0"/>
                        </a:spcBef>
                        <a:spcAft>
                          <a:spcPts val="0"/>
                        </a:spcAft>
                        <a:buNone/>
                      </a:pPr>
                      <a:r>
                        <a:rPr lang="en-US" sz="2400" b="0" i="0" u="none" strike="noStrike" noProof="0">
                          <a:latin typeface="Calibri"/>
                        </a:rPr>
                        <a:t>Purpose:</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Mapping reports</a:t>
                      </a:r>
                      <a:endParaRPr lang="en-US" sz="2400"/>
                    </a:p>
                    <a:p>
                      <a:pPr marL="285750" lvl="0" indent="-285750" algn="l">
                        <a:lnSpc>
                          <a:spcPct val="100000"/>
                        </a:lnSpc>
                        <a:spcBef>
                          <a:spcPts val="0"/>
                        </a:spcBef>
                        <a:spcAft>
                          <a:spcPts val="0"/>
                        </a:spcAft>
                        <a:buFont typeface="Arial"/>
                        <a:buChar char="•"/>
                      </a:pPr>
                      <a:r>
                        <a:rPr lang="en-US" sz="2400" b="0" i="0" u="none" strike="noStrike" noProof="0">
                          <a:latin typeface="Calibri"/>
                        </a:rPr>
                        <a:t>Route optimization</a:t>
                      </a:r>
                      <a:endParaRPr lang="en-US" sz="2400"/>
                    </a:p>
                    <a:p>
                      <a:pPr lvl="0">
                        <a:buNone/>
                      </a:pPr>
                      <a:endParaRPr lang="en-US" sz="2400"/>
                    </a:p>
                  </a:txBody>
                  <a:tcPr/>
                </a:tc>
                <a:extLst>
                  <a:ext uri="{0D108BD9-81ED-4DB2-BD59-A6C34878D82A}">
                    <a16:rowId xmlns:a16="http://schemas.microsoft.com/office/drawing/2014/main" val="2671277916"/>
                  </a:ext>
                </a:extLst>
              </a:tr>
            </a:tbl>
          </a:graphicData>
        </a:graphic>
      </p:graphicFrame>
    </p:spTree>
    <p:extLst>
      <p:ext uri="{BB962C8B-B14F-4D97-AF65-F5344CB8AC3E}">
        <p14:creationId xmlns:p14="http://schemas.microsoft.com/office/powerpoint/2010/main" val="2725658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74DB899D-673E-613F-C0C7-A23852DC7D3D}"/>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D17CF3C1-096C-61E9-7E47-CA9DE7A267A0}"/>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pPr>
            <a:r>
              <a:rPr lang="en-US" b="1" i="1">
                <a:solidFill>
                  <a:srgbClr val="CC0066"/>
                </a:solidFill>
                <a:latin typeface="Times New Roman"/>
                <a:cs typeface="Times New Roman"/>
              </a:rPr>
              <a:t>Data Collection Strategy</a:t>
            </a:r>
          </a:p>
        </p:txBody>
      </p:sp>
      <p:sp>
        <p:nvSpPr>
          <p:cNvPr id="1042" name="Google Shape;1042;p47">
            <a:extLst>
              <a:ext uri="{FF2B5EF4-FFF2-40B4-BE49-F238E27FC236}">
                <a16:creationId xmlns:a16="http://schemas.microsoft.com/office/drawing/2014/main" id="{4DA4C6CA-6770-63F4-A633-EBC50EE53F2B}"/>
              </a:ext>
            </a:extLst>
          </p:cNvPr>
          <p:cNvSpPr txBox="1">
            <a:spLocks noGrp="1"/>
          </p:cNvSpPr>
          <p:nvPr>
            <p:ph type="body" idx="1"/>
          </p:nvPr>
        </p:nvSpPr>
        <p:spPr>
          <a:xfrm>
            <a:off x="290885" y="1226735"/>
            <a:ext cx="11250794" cy="3976110"/>
          </a:xfrm>
          <a:prstGeom prst="rect">
            <a:avLst/>
          </a:prstGeom>
          <a:noFill/>
          <a:ln>
            <a:noFill/>
          </a:ln>
        </p:spPr>
        <p:txBody>
          <a:bodyPr spcFirstLastPara="1" wrap="square" lIns="91425" tIns="45700" rIns="91425" bIns="45700" anchor="t" anchorCtr="0">
            <a:noAutofit/>
          </a:bodyPr>
          <a:lstStyle/>
          <a:p>
            <a:r>
              <a:rPr lang="en-US" sz="2400">
                <a:solidFill>
                  <a:schemeClr val="tx1"/>
                </a:solidFill>
                <a:cs typeface="Times New Roman"/>
              </a:rPr>
              <a:t>The system collects data from multiple reliable sources to support real-time analysis and intelligent decision-making.</a:t>
            </a:r>
            <a:endParaRPr lang="en-US" sz="2400">
              <a:solidFill>
                <a:schemeClr val="tx1"/>
              </a:solidFill>
            </a:endParaRPr>
          </a:p>
          <a:p>
            <a:r>
              <a:rPr lang="en-US" sz="2400">
                <a:solidFill>
                  <a:schemeClr val="tx1"/>
                </a:solidFill>
                <a:cs typeface="Times New Roman"/>
              </a:rPr>
              <a:t>Primary data sources include:</a:t>
            </a:r>
            <a:endParaRPr lang="en-US" sz="2400">
              <a:solidFill>
                <a:schemeClr val="tx1"/>
              </a:solidFill>
            </a:endParaRPr>
          </a:p>
          <a:p>
            <a:r>
              <a:rPr lang="en-US" sz="2400">
                <a:solidFill>
                  <a:schemeClr val="tx1"/>
                </a:solidFill>
                <a:cs typeface="Times New Roman"/>
              </a:rPr>
              <a:t>Citizen Inputs: Issues and complaints submitted through the web application.</a:t>
            </a:r>
            <a:endParaRPr lang="en-US" sz="2400">
              <a:solidFill>
                <a:schemeClr val="tx1"/>
              </a:solidFill>
            </a:endParaRPr>
          </a:p>
          <a:p>
            <a:r>
              <a:rPr lang="en-US" sz="2400">
                <a:solidFill>
                  <a:schemeClr val="tx1"/>
                </a:solidFill>
                <a:cs typeface="Times New Roman"/>
              </a:rPr>
              <a:t>Public APIs: Traffic, weather, and location-based data from open and cloud-based APIs.</a:t>
            </a:r>
            <a:endParaRPr lang="en-US" sz="2400">
              <a:solidFill>
                <a:schemeClr val="tx1"/>
              </a:solidFill>
            </a:endParaRPr>
          </a:p>
          <a:p>
            <a:r>
              <a:rPr lang="en-US" sz="2400">
                <a:solidFill>
                  <a:schemeClr val="tx1"/>
                </a:solidFill>
                <a:cs typeface="Times New Roman"/>
              </a:rPr>
              <a:t>Municipal Records: Historical incident and service-request datasets.</a:t>
            </a:r>
            <a:endParaRPr lang="en-US" sz="2400">
              <a:solidFill>
                <a:schemeClr val="tx1"/>
              </a:solidFill>
            </a:endParaRPr>
          </a:p>
          <a:p>
            <a:r>
              <a:rPr lang="en-US" sz="2400">
                <a:solidFill>
                  <a:schemeClr val="tx1"/>
                </a:solidFill>
                <a:cs typeface="Times New Roman"/>
              </a:rPr>
              <a:t>Simulated IoT Data: Sensor-like inputs representing traffic density, water levels, and infrastructure status.</a:t>
            </a:r>
            <a:endParaRPr lang="en-US" sz="2400">
              <a:solidFill>
                <a:schemeClr val="tx1"/>
              </a:solidFill>
            </a:endParaRPr>
          </a:p>
          <a:p>
            <a:r>
              <a:rPr lang="en-US" sz="2400">
                <a:solidFill>
                  <a:schemeClr val="tx1"/>
                </a:solidFill>
                <a:cs typeface="Times New Roman"/>
              </a:rPr>
              <a:t>All collected data is preprocessed, anonymized, and normalized before analysis to ensure data quality, privacy, and consistency.</a:t>
            </a:r>
            <a:endParaRPr lang="en-US" sz="2400">
              <a:solidFill>
                <a:schemeClr val="tx1"/>
              </a:solidFill>
            </a:endParaRPr>
          </a:p>
          <a:p>
            <a:endParaRPr lang="en-US" sz="2400">
              <a:solidFill>
                <a:schemeClr val="tx1"/>
              </a:solidFill>
              <a:cs typeface="Times New Roman"/>
            </a:endParaRPr>
          </a:p>
        </p:txBody>
      </p:sp>
    </p:spTree>
    <p:extLst>
      <p:ext uri="{BB962C8B-B14F-4D97-AF65-F5344CB8AC3E}">
        <p14:creationId xmlns:p14="http://schemas.microsoft.com/office/powerpoint/2010/main" val="1063370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53"/>
          <p:cNvSpPr txBox="1">
            <a:spLocks noGrp="1"/>
          </p:cNvSpPr>
          <p:nvPr>
            <p:ph type="title"/>
          </p:nvPr>
        </p:nvSpPr>
        <p:spPr>
          <a:xfrm>
            <a:off x="378125" y="598685"/>
            <a:ext cx="4782300" cy="850200"/>
          </a:xfrm>
          <a:prstGeom prst="rect">
            <a:avLst/>
          </a:prstGeom>
          <a:noFill/>
          <a:ln>
            <a:noFill/>
          </a:ln>
        </p:spPr>
        <p:txBody>
          <a:bodyPr spcFirstLastPara="1" wrap="square" lIns="91425" tIns="45700" rIns="91425" bIns="45700" anchor="ctr" anchorCtr="0">
            <a:normAutofit/>
          </a:bodyPr>
          <a:lstStyle/>
          <a:p>
            <a:pPr lvl="0">
              <a:buClr>
                <a:srgbClr val="B6114D"/>
              </a:buClr>
              <a:buSzPts val="3600"/>
            </a:pPr>
            <a:r>
              <a:rPr lang="en-US" sz="3600" b="1" i="1">
                <a:solidFill>
                  <a:srgbClr val="CC0066"/>
                </a:solidFill>
                <a:latin typeface="Times New Roman"/>
                <a:ea typeface="Times New Roman"/>
                <a:cs typeface="Times New Roman"/>
                <a:sym typeface="Times New Roman"/>
              </a:rPr>
              <a:t>Tech Stack</a:t>
            </a:r>
            <a:endParaRPr lang="en-US"/>
          </a:p>
        </p:txBody>
      </p:sp>
      <p:sp>
        <p:nvSpPr>
          <p:cNvPr id="2" name="TextBox 1">
            <a:extLst>
              <a:ext uri="{FF2B5EF4-FFF2-40B4-BE49-F238E27FC236}">
                <a16:creationId xmlns:a16="http://schemas.microsoft.com/office/drawing/2014/main" id="{8D7EE98E-01FB-D89A-6AA8-1D1DEB3A000D}"/>
              </a:ext>
            </a:extLst>
          </p:cNvPr>
          <p:cNvSpPr txBox="1"/>
          <p:nvPr/>
        </p:nvSpPr>
        <p:spPr>
          <a:xfrm>
            <a:off x="679196" y="1712099"/>
            <a:ext cx="990213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2800" b="1"/>
              <a:t>Frontend:</a:t>
            </a:r>
            <a:r>
              <a:rPr lang="en-US" sz="2800"/>
              <a:t> React </a:t>
            </a:r>
          </a:p>
          <a:p>
            <a:pPr>
              <a:buChar char="•"/>
            </a:pPr>
            <a:r>
              <a:rPr lang="en-US" sz="2800" b="1"/>
              <a:t>Backend:</a:t>
            </a:r>
            <a:r>
              <a:rPr lang="en-US" sz="2800"/>
              <a:t> Node.js, Express.js</a:t>
            </a:r>
          </a:p>
          <a:p>
            <a:pPr>
              <a:buChar char="•"/>
            </a:pPr>
            <a:r>
              <a:rPr lang="en-US" sz="2800" b="1"/>
              <a:t>Database:</a:t>
            </a:r>
            <a:r>
              <a:rPr lang="en-US" sz="2800"/>
              <a:t> MongoDB</a:t>
            </a:r>
          </a:p>
          <a:p>
            <a:pPr>
              <a:buChar char="•"/>
            </a:pPr>
            <a:r>
              <a:rPr lang="en-US" sz="2800" b="1"/>
              <a:t>AI Layer:</a:t>
            </a:r>
            <a:r>
              <a:rPr lang="en-US" sz="2800"/>
              <a:t> LLM APIs, Predictive Analytics Models</a:t>
            </a:r>
          </a:p>
          <a:p>
            <a:pPr>
              <a:buChar char="•"/>
            </a:pPr>
            <a:r>
              <a:rPr lang="en-US" sz="2800" b="1"/>
              <a:t>Cloud &amp; DevOps:</a:t>
            </a:r>
            <a:r>
              <a:rPr lang="en-US" sz="2800"/>
              <a:t> Google Cloud / AWS, Docker, Git, GitHub</a:t>
            </a:r>
          </a:p>
          <a:p>
            <a:pPr marL="285750" indent="-285750" algn="l">
              <a:buChar char="•"/>
            </a:pPr>
            <a:endParaRPr lang="en-US" sz="2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CA84FD6B-81B7-C3AF-EA79-BF055F74EF0F}"/>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C93A5A12-3259-51B8-35E8-99393D1CB776}"/>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pPr>
            <a:r>
              <a:rPr lang="en-US" b="1" i="1">
                <a:solidFill>
                  <a:srgbClr val="CC0066"/>
                </a:solidFill>
                <a:latin typeface="Times New Roman"/>
                <a:cs typeface="Times New Roman"/>
              </a:rPr>
              <a:t>Tech Stack Explanation</a:t>
            </a:r>
          </a:p>
        </p:txBody>
      </p:sp>
      <p:sp>
        <p:nvSpPr>
          <p:cNvPr id="1042" name="Google Shape;1042;p47">
            <a:extLst>
              <a:ext uri="{FF2B5EF4-FFF2-40B4-BE49-F238E27FC236}">
                <a16:creationId xmlns:a16="http://schemas.microsoft.com/office/drawing/2014/main" id="{542545C3-0FF5-B481-B9F0-0666D378F14F}"/>
              </a:ext>
            </a:extLst>
          </p:cNvPr>
          <p:cNvSpPr txBox="1">
            <a:spLocks noGrp="1"/>
          </p:cNvSpPr>
          <p:nvPr>
            <p:ph type="body" idx="1"/>
          </p:nvPr>
        </p:nvSpPr>
        <p:spPr>
          <a:xfrm>
            <a:off x="290886" y="1223141"/>
            <a:ext cx="11926529" cy="4871100"/>
          </a:xfrm>
          <a:prstGeom prst="rect">
            <a:avLst/>
          </a:prstGeom>
          <a:noFill/>
          <a:ln>
            <a:noFill/>
          </a:ln>
        </p:spPr>
        <p:txBody>
          <a:bodyPr spcFirstLastPara="1" wrap="square" lIns="91425" tIns="45700" rIns="91425" bIns="45700" anchor="t" anchorCtr="0">
            <a:noAutofit/>
          </a:bodyPr>
          <a:lstStyle/>
          <a:p>
            <a:r>
              <a:rPr lang="en-US" sz="1800" b="1">
                <a:cs typeface="Times New Roman"/>
              </a:rPr>
              <a:t>Frontend (React / Angular):</a:t>
            </a:r>
            <a:br>
              <a:rPr lang="en-US" sz="1800" b="1">
                <a:cs typeface="Times New Roman"/>
              </a:rPr>
            </a:br>
            <a:r>
              <a:rPr lang="en-US" sz="1800" b="1">
                <a:cs typeface="Times New Roman"/>
              </a:rPr>
              <a:t> Provides an interactive and responsive user interface for dashboards, maps, and user interactions.</a:t>
            </a:r>
            <a:endParaRPr lang="en-US" sz="1800">
              <a:latin typeface="Times New Roman"/>
              <a:cs typeface="Times New Roman"/>
            </a:endParaRPr>
          </a:p>
          <a:p>
            <a:r>
              <a:rPr lang="en-US" sz="1800" b="1">
                <a:cs typeface="Times New Roman"/>
              </a:rPr>
              <a:t>Backend (Node.js &amp; Express.js):</a:t>
            </a:r>
            <a:br>
              <a:rPr lang="en-US" sz="1800" b="1">
                <a:cs typeface="Times New Roman"/>
              </a:rPr>
            </a:br>
            <a:r>
              <a:rPr lang="en-US" sz="1800" b="1">
                <a:cs typeface="Times New Roman"/>
              </a:rPr>
              <a:t> Handles business logic, API requests, data processing, and communication between the frontend and database.</a:t>
            </a:r>
            <a:endParaRPr lang="en-US" b="1"/>
          </a:p>
          <a:p>
            <a:r>
              <a:rPr lang="en-US" sz="1800" b="1">
                <a:cs typeface="Times New Roman"/>
              </a:rPr>
              <a:t>Database (MongoDB):</a:t>
            </a:r>
            <a:br>
              <a:rPr lang="en-US" sz="1800" b="1">
                <a:cs typeface="Times New Roman"/>
              </a:rPr>
            </a:br>
            <a:r>
              <a:rPr lang="en-US" sz="1800" b="1">
                <a:cs typeface="Times New Roman"/>
              </a:rPr>
              <a:t> Stores structured and unstructured data such as user inputs, incident records, logs, and analytics.</a:t>
            </a:r>
            <a:endParaRPr lang="en-US" b="1"/>
          </a:p>
          <a:p>
            <a:r>
              <a:rPr lang="en-US" sz="1800" b="1">
                <a:cs typeface="Times New Roman"/>
              </a:rPr>
              <a:t>AI Layer (LLM &amp; Analytics APIs):</a:t>
            </a:r>
            <a:br>
              <a:rPr lang="en-US" sz="1800" b="1">
                <a:cs typeface="Times New Roman"/>
              </a:rPr>
            </a:br>
            <a:r>
              <a:rPr lang="en-US" sz="1800" b="1">
                <a:cs typeface="Times New Roman"/>
              </a:rPr>
              <a:t> Performs intelligent classification, trend analysis, summarization, and decision support.</a:t>
            </a:r>
            <a:endParaRPr lang="en-US" b="1"/>
          </a:p>
          <a:p>
            <a:r>
              <a:rPr lang="en-US" sz="1800" b="1">
                <a:cs typeface="Times New Roman"/>
              </a:rPr>
              <a:t>Cloud &amp; DevOps Tools:</a:t>
            </a:r>
            <a:br>
              <a:rPr lang="en-US" sz="1800" b="1">
                <a:cs typeface="Times New Roman"/>
              </a:rPr>
            </a:br>
            <a:r>
              <a:rPr lang="en-US" sz="1800" b="1">
                <a:cs typeface="Times New Roman"/>
              </a:rPr>
              <a:t> Enable scalable deployment, continuous integration, and reliable system availability.</a:t>
            </a:r>
            <a:endParaRPr lang="en-US" b="1"/>
          </a:p>
        </p:txBody>
      </p:sp>
    </p:spTree>
    <p:extLst>
      <p:ext uri="{BB962C8B-B14F-4D97-AF65-F5344CB8AC3E}">
        <p14:creationId xmlns:p14="http://schemas.microsoft.com/office/powerpoint/2010/main" val="387379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0">
          <a:extLst>
            <a:ext uri="{FF2B5EF4-FFF2-40B4-BE49-F238E27FC236}">
              <a16:creationId xmlns:a16="http://schemas.microsoft.com/office/drawing/2014/main" id="{50489B44-9E4D-08C0-8026-5556B15F9E67}"/>
            </a:ext>
          </a:extLst>
        </p:cNvPr>
        <p:cNvGrpSpPr/>
        <p:nvPr/>
      </p:nvGrpSpPr>
      <p:grpSpPr>
        <a:xfrm>
          <a:off x="0" y="0"/>
          <a:ext cx="0" cy="0"/>
          <a:chOff x="0" y="0"/>
          <a:chExt cx="0" cy="0"/>
        </a:xfrm>
      </p:grpSpPr>
      <p:sp>
        <p:nvSpPr>
          <p:cNvPr id="1041" name="Google Shape;1041;p47">
            <a:extLst>
              <a:ext uri="{FF2B5EF4-FFF2-40B4-BE49-F238E27FC236}">
                <a16:creationId xmlns:a16="http://schemas.microsoft.com/office/drawing/2014/main" id="{E241D027-76B5-851B-DE3C-41F06945C6F5}"/>
              </a:ext>
            </a:extLst>
          </p:cNvPr>
          <p:cNvSpPr txBox="1">
            <a:spLocks noGrp="1"/>
          </p:cNvSpPr>
          <p:nvPr>
            <p:ph type="title"/>
          </p:nvPr>
        </p:nvSpPr>
        <p:spPr>
          <a:xfrm>
            <a:off x="287593" y="209084"/>
            <a:ext cx="10515600" cy="669000"/>
          </a:xfrm>
          <a:prstGeom prst="rect">
            <a:avLst/>
          </a:prstGeom>
          <a:noFill/>
          <a:ln>
            <a:noFill/>
          </a:ln>
        </p:spPr>
        <p:txBody>
          <a:bodyPr spcFirstLastPara="1" wrap="square" lIns="91425" tIns="45700" rIns="91425" bIns="45700" anchor="ctr" anchorCtr="0">
            <a:normAutofit/>
          </a:bodyPr>
          <a:lstStyle/>
          <a:p>
            <a:pPr>
              <a:buClr>
                <a:srgbClr val="CC0066"/>
              </a:buClr>
              <a:buSzPts val="3600"/>
            </a:pPr>
            <a:r>
              <a:rPr lang="en-US" sz="3200" b="1" i="1">
                <a:solidFill>
                  <a:srgbClr val="CC0066"/>
                </a:solidFill>
                <a:latin typeface="Times New Roman"/>
                <a:cs typeface="Times New Roman"/>
              </a:rPr>
              <a:t>Mobile Stack change </a:t>
            </a:r>
          </a:p>
        </p:txBody>
      </p:sp>
      <p:sp>
        <p:nvSpPr>
          <p:cNvPr id="3" name="Text Placeholder 2">
            <a:extLst>
              <a:ext uri="{FF2B5EF4-FFF2-40B4-BE49-F238E27FC236}">
                <a16:creationId xmlns:a16="http://schemas.microsoft.com/office/drawing/2014/main" id="{A24DBE59-88C5-2E88-D56C-8E004954DA6B}"/>
              </a:ext>
            </a:extLst>
          </p:cNvPr>
          <p:cNvSpPr>
            <a:spLocks noGrp="1" noChangeArrowheads="1"/>
          </p:cNvSpPr>
          <p:nvPr>
            <p:ph type="body" idx="1"/>
          </p:nvPr>
        </p:nvSpPr>
        <p:spPr bwMode="auto">
          <a:xfrm>
            <a:off x="391767" y="1145351"/>
            <a:ext cx="9733755"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Clr>
                <a:srgbClr val="000000"/>
              </a:buClr>
              <a:buSzTx/>
            </a:pPr>
            <a:r>
              <a:rPr lang="en-US" sz="1800">
                <a:solidFill>
                  <a:schemeClr val="tx1"/>
                </a:solidFill>
                <a:cs typeface="Times New Roman"/>
              </a:rPr>
              <a:t>Frontend Replacement:</a:t>
            </a:r>
            <a:br>
              <a:rPr lang="en-US" sz="1800">
                <a:cs typeface="Times New Roman" panose="02020603050405020304" pitchFamily="18" charset="0"/>
              </a:rPr>
            </a:br>
            <a:r>
              <a:rPr lang="en-US" sz="1800">
                <a:solidFill>
                  <a:schemeClr val="tx1"/>
                </a:solidFill>
                <a:cs typeface="Times New Roman"/>
              </a:rPr>
              <a:t> </a:t>
            </a:r>
            <a:r>
              <a:rPr kumimoji="0" lang="en-US" sz="1800" i="0" u="none" strike="noStrike" cap="none" normalizeH="0" baseline="0">
                <a:ln>
                  <a:noFill/>
                </a:ln>
                <a:solidFill>
                  <a:schemeClr val="tx1"/>
                </a:solidFill>
                <a:effectLst/>
                <a:cs typeface="Times New Roman"/>
              </a:rPr>
              <a:t>The </a:t>
            </a:r>
            <a:r>
              <a:rPr lang="en-US" sz="1800">
                <a:solidFill>
                  <a:schemeClr val="tx1"/>
                </a:solidFill>
                <a:cs typeface="Times New Roman"/>
              </a:rPr>
              <a:t>web frontend would be replaced with a </a:t>
            </a:r>
            <a:r>
              <a:rPr kumimoji="0" lang="en-US" sz="1800" i="0" u="none" strike="noStrike" cap="none" normalizeH="0" baseline="0">
                <a:ln>
                  <a:noFill/>
                </a:ln>
                <a:solidFill>
                  <a:schemeClr val="tx1"/>
                </a:solidFill>
                <a:effectLst/>
                <a:cs typeface="Times New Roman"/>
              </a:rPr>
              <a:t>mobile </a:t>
            </a:r>
            <a:r>
              <a:rPr lang="en-US" sz="1800">
                <a:solidFill>
                  <a:schemeClr val="tx1"/>
                </a:solidFill>
                <a:cs typeface="Times New Roman"/>
              </a:rPr>
              <a:t>framework such as Flutter or </a:t>
            </a:r>
            <a:r>
              <a:rPr kumimoji="0" lang="en-US" sz="1800" i="0" u="none" strike="noStrike" cap="none" normalizeH="0" baseline="0">
                <a:ln>
                  <a:noFill/>
                </a:ln>
                <a:solidFill>
                  <a:schemeClr val="tx1"/>
                </a:solidFill>
                <a:effectLst/>
                <a:cs typeface="Times New Roman"/>
              </a:rPr>
              <a:t>React </a:t>
            </a:r>
            <a:r>
              <a:rPr lang="en-US" sz="1800">
                <a:solidFill>
                  <a:schemeClr val="tx1"/>
                </a:solidFill>
                <a:cs typeface="Times New Roman"/>
              </a:rPr>
              <a:t>Native.</a:t>
            </a:r>
            <a:endParaRPr lang="en-US" altLang="en-US" sz="1800" b="0" i="0" u="none" strike="noStrike" cap="none" normalizeH="0" baseline="0">
              <a:ln>
                <a:noFill/>
              </a:ln>
              <a:solidFill>
                <a:schemeClr val="tx1"/>
              </a:solidFill>
              <a:effectLst/>
              <a:latin typeface="Times New Roman" panose="02020603050405020304" pitchFamily="18" charset="0"/>
              <a:cs typeface="Times New Roman"/>
            </a:endParaRPr>
          </a:p>
          <a:p>
            <a:pPr>
              <a:buClr>
                <a:srgbClr val="000000"/>
              </a:buClr>
              <a:buSzTx/>
            </a:pPr>
            <a:r>
              <a:rPr lang="en-US" sz="1800">
                <a:solidFill>
                  <a:schemeClr val="tx1"/>
                </a:solidFill>
                <a:cs typeface="Times New Roman"/>
              </a:rPr>
              <a:t>Backend Reuse:</a:t>
            </a:r>
            <a:br>
              <a:rPr lang="en-US" sz="1800">
                <a:cs typeface="Times New Roman" panose="02020603050405020304" pitchFamily="18" charset="0"/>
              </a:rPr>
            </a:br>
            <a:r>
              <a:rPr lang="en-US" sz="1800">
                <a:solidFill>
                  <a:schemeClr val="tx1"/>
                </a:solidFill>
                <a:cs typeface="Times New Roman"/>
              </a:rPr>
              <a:t> Existing backend services and </a:t>
            </a:r>
            <a:r>
              <a:rPr kumimoji="0" lang="en-US" sz="1800" i="0" u="none" strike="noStrike" cap="none" normalizeH="0" baseline="0">
                <a:ln>
                  <a:noFill/>
                </a:ln>
                <a:solidFill>
                  <a:schemeClr val="tx1"/>
                </a:solidFill>
                <a:effectLst/>
                <a:cs typeface="Times New Roman"/>
              </a:rPr>
              <a:t>REST APIs </a:t>
            </a:r>
            <a:r>
              <a:rPr lang="en-US" sz="1800">
                <a:solidFill>
                  <a:schemeClr val="tx1"/>
                </a:solidFill>
                <a:cs typeface="Times New Roman"/>
              </a:rPr>
              <a:t>can be </a:t>
            </a:r>
            <a:r>
              <a:rPr kumimoji="0" lang="en-US" sz="1800" i="0" u="none" strike="noStrike" cap="none" normalizeH="0" baseline="0">
                <a:ln>
                  <a:noFill/>
                </a:ln>
                <a:solidFill>
                  <a:schemeClr val="tx1"/>
                </a:solidFill>
                <a:effectLst/>
                <a:cs typeface="Times New Roman"/>
              </a:rPr>
              <a:t>reused without </a:t>
            </a:r>
            <a:r>
              <a:rPr lang="en-US" sz="1800">
                <a:solidFill>
                  <a:schemeClr val="tx1"/>
                </a:solidFill>
                <a:cs typeface="Times New Roman"/>
              </a:rPr>
              <a:t>major changes.</a:t>
            </a:r>
            <a:endParaRPr lang="en-US">
              <a:solidFill>
                <a:schemeClr val="tx1"/>
              </a:solidFill>
              <a:cs typeface="Times New Roman"/>
            </a:endParaRPr>
          </a:p>
          <a:p>
            <a:pPr>
              <a:buClr>
                <a:srgbClr val="000000"/>
              </a:buClr>
              <a:buSzTx/>
            </a:pPr>
            <a:r>
              <a:rPr kumimoji="0" lang="en-US" sz="1800" i="0" u="none" strike="noStrike" cap="none" normalizeH="0" baseline="0">
                <a:ln>
                  <a:noFill/>
                </a:ln>
                <a:solidFill>
                  <a:schemeClr val="tx1"/>
                </a:solidFill>
                <a:effectLst/>
                <a:cs typeface="Times New Roman"/>
              </a:rPr>
              <a:t>API </a:t>
            </a:r>
            <a:r>
              <a:rPr lang="en-US" sz="1800">
                <a:solidFill>
                  <a:schemeClr val="tx1"/>
                </a:solidFill>
                <a:cs typeface="Times New Roman"/>
              </a:rPr>
              <a:t>Optimization:</a:t>
            </a:r>
            <a:br>
              <a:rPr lang="en-US" sz="1800">
                <a:cs typeface="Times New Roman" panose="02020603050405020304" pitchFamily="18" charset="0"/>
              </a:rPr>
            </a:br>
            <a:r>
              <a:rPr lang="en-US" sz="1800">
                <a:solidFill>
                  <a:schemeClr val="tx1"/>
                </a:solidFill>
                <a:cs typeface="Times New Roman"/>
              </a:rPr>
              <a:t> APIs may be optimized for lower bandwidth </a:t>
            </a:r>
            <a:r>
              <a:rPr kumimoji="0" lang="en-US" sz="1800" i="0" u="none" strike="noStrike" cap="none" normalizeH="0" baseline="0">
                <a:ln>
                  <a:noFill/>
                </a:ln>
                <a:solidFill>
                  <a:schemeClr val="tx1"/>
                </a:solidFill>
                <a:effectLst/>
                <a:cs typeface="Times New Roman"/>
              </a:rPr>
              <a:t>and mobile </a:t>
            </a:r>
            <a:r>
              <a:rPr lang="en-US" sz="1800">
                <a:solidFill>
                  <a:schemeClr val="tx1"/>
                </a:solidFill>
                <a:cs typeface="Times New Roman"/>
              </a:rPr>
              <a:t>network conditions.</a:t>
            </a:r>
            <a:endParaRPr lang="en-US">
              <a:solidFill>
                <a:schemeClr val="tx1"/>
              </a:solidFill>
              <a:cs typeface="Times New Roman"/>
            </a:endParaRPr>
          </a:p>
          <a:p>
            <a:pPr>
              <a:buClr>
                <a:srgbClr val="000000"/>
              </a:buClr>
              <a:buSzTx/>
            </a:pPr>
            <a:r>
              <a:rPr lang="en-US" sz="1800">
                <a:solidFill>
                  <a:schemeClr val="tx1"/>
                </a:solidFill>
                <a:cs typeface="Times New Roman"/>
              </a:rPr>
              <a:t>Authentication &amp; Notifications:</a:t>
            </a:r>
            <a:br>
              <a:rPr lang="en-US" sz="1800">
                <a:cs typeface="Times New Roman" panose="02020603050405020304" pitchFamily="18" charset="0"/>
              </a:rPr>
            </a:br>
            <a:r>
              <a:rPr lang="en-US" sz="1800">
                <a:solidFill>
                  <a:schemeClr val="tx1"/>
                </a:solidFill>
                <a:cs typeface="Times New Roman"/>
              </a:rPr>
              <a:t> Mobile-specific authentication and push notification services would be integrated.</a:t>
            </a:r>
            <a:endParaRPr lang="en-US">
              <a:solidFill>
                <a:schemeClr val="tx1"/>
              </a:solidFill>
              <a:cs typeface="Times New Roman"/>
            </a:endParaRPr>
          </a:p>
          <a:p>
            <a:pPr>
              <a:buClr>
                <a:srgbClr val="000000"/>
              </a:buClr>
              <a:buSzTx/>
            </a:pPr>
            <a:r>
              <a:rPr lang="en-US" sz="1800">
                <a:solidFill>
                  <a:schemeClr val="tx1"/>
                </a:solidFill>
                <a:cs typeface="Times New Roman"/>
              </a:rPr>
              <a:t>UI/UX Adjustments:</a:t>
            </a:r>
            <a:br>
              <a:rPr lang="en-US" sz="1800">
                <a:cs typeface="Times New Roman" panose="02020603050405020304" pitchFamily="18" charset="0"/>
              </a:rPr>
            </a:br>
            <a:r>
              <a:rPr lang="en-US" sz="1800">
                <a:solidFill>
                  <a:schemeClr val="tx1"/>
                </a:solidFill>
                <a:cs typeface="Times New Roman"/>
              </a:rPr>
              <a:t> Interfaces would be redesigned for smaller screens while preserving core functionality.</a:t>
            </a:r>
            <a:endParaRPr lang="en-US">
              <a:solidFill>
                <a:schemeClr val="tx1"/>
              </a:solidFill>
              <a:cs typeface="Times New Roman"/>
            </a:endParaRPr>
          </a:p>
          <a:p>
            <a:pPr marL="285750" indent="-285750">
              <a:lnSpc>
                <a:spcPct val="200000"/>
              </a:lnSpc>
              <a:spcBef>
                <a:spcPct val="0"/>
              </a:spcBef>
              <a:spcAft>
                <a:spcPct val="0"/>
              </a:spcAft>
              <a:buClrTx/>
              <a:buSzTx/>
            </a:pPr>
            <a:endParaRPr lang="en-US" altLang="en-US" sz="18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767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49"/>
          <p:cNvSpPr txBox="1">
            <a:spLocks noGrp="1"/>
          </p:cNvSpPr>
          <p:nvPr>
            <p:ph type="title"/>
          </p:nvPr>
        </p:nvSpPr>
        <p:spPr>
          <a:xfrm>
            <a:off x="234192" y="104344"/>
            <a:ext cx="11723615" cy="625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List of companies working on the similar problem statement</a:t>
            </a:r>
            <a:endParaRPr sz="3600" i="1"/>
          </a:p>
        </p:txBody>
      </p:sp>
      <p:graphicFrame>
        <p:nvGraphicFramePr>
          <p:cNvPr id="3" name="Table 2">
            <a:extLst>
              <a:ext uri="{FF2B5EF4-FFF2-40B4-BE49-F238E27FC236}">
                <a16:creationId xmlns:a16="http://schemas.microsoft.com/office/drawing/2014/main" id="{3FEB7C0C-97F4-88C3-CBBA-73D100D1841F}"/>
              </a:ext>
            </a:extLst>
          </p:cNvPr>
          <p:cNvGraphicFramePr>
            <a:graphicFrameLocks noGrp="1"/>
          </p:cNvGraphicFramePr>
          <p:nvPr>
            <p:extLst>
              <p:ext uri="{D42A27DB-BD31-4B8C-83A1-F6EECF244321}">
                <p14:modId xmlns:p14="http://schemas.microsoft.com/office/powerpoint/2010/main" val="1704409247"/>
              </p:ext>
            </p:extLst>
          </p:nvPr>
        </p:nvGraphicFramePr>
        <p:xfrm>
          <a:off x="287547" y="1178943"/>
          <a:ext cx="11492052" cy="4270460"/>
        </p:xfrm>
        <a:graphic>
          <a:graphicData uri="http://schemas.openxmlformats.org/drawingml/2006/table">
            <a:tbl>
              <a:tblPr bandRow="1">
                <a:tableStyleId>{B229F12B-DD2F-434A-8BDD-88915C9BCD54}</a:tableStyleId>
              </a:tblPr>
              <a:tblGrid>
                <a:gridCol w="3830684">
                  <a:extLst>
                    <a:ext uri="{9D8B030D-6E8A-4147-A177-3AD203B41FA5}">
                      <a16:colId xmlns:a16="http://schemas.microsoft.com/office/drawing/2014/main" val="3312151176"/>
                    </a:ext>
                  </a:extLst>
                </a:gridCol>
                <a:gridCol w="3830684">
                  <a:extLst>
                    <a:ext uri="{9D8B030D-6E8A-4147-A177-3AD203B41FA5}">
                      <a16:colId xmlns:a16="http://schemas.microsoft.com/office/drawing/2014/main" val="3119816245"/>
                    </a:ext>
                  </a:extLst>
                </a:gridCol>
                <a:gridCol w="3830684">
                  <a:extLst>
                    <a:ext uri="{9D8B030D-6E8A-4147-A177-3AD203B41FA5}">
                      <a16:colId xmlns:a16="http://schemas.microsoft.com/office/drawing/2014/main" val="3472105053"/>
                    </a:ext>
                  </a:extLst>
                </a:gridCol>
              </a:tblGrid>
              <a:tr h="854092">
                <a:tc>
                  <a:txBody>
                    <a:bodyPr/>
                    <a:lstStyle/>
                    <a:p>
                      <a:pPr>
                        <a:buNone/>
                      </a:pPr>
                      <a:r>
                        <a:rPr lang="en-US" b="1">
                          <a:solidFill>
                            <a:schemeClr val="tx1"/>
                          </a:solidFill>
                        </a:rPr>
                        <a:t>Company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b="1">
                          <a:solidFill>
                            <a:schemeClr val="tx1"/>
                          </a:solidFill>
                        </a:rPr>
                        <a:t>Location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b="1">
                          <a:solidFill>
                            <a:schemeClr val="tx1"/>
                          </a:solidFill>
                        </a:rPr>
                        <a:t>URL</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41327308"/>
                  </a:ext>
                </a:extLst>
              </a:tr>
              <a:tr h="854092">
                <a:tc>
                  <a:txBody>
                    <a:bodyPr/>
                    <a:lstStyle/>
                    <a:p>
                      <a:pPr>
                        <a:buNone/>
                      </a:pPr>
                      <a:r>
                        <a:rPr lang="en-US" err="1">
                          <a:solidFill>
                            <a:schemeClr val="tx1"/>
                          </a:solidFill>
                        </a:rPr>
                        <a:t>Quantela</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USA</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hlinkClick r:id="rId3">
                            <a:extLst>
                              <a:ext uri="{A12FA001-AC4F-418D-AE19-62706E023703}">
                                <ahyp:hlinkClr xmlns:ahyp="http://schemas.microsoft.com/office/drawing/2018/hyperlinkcolor" val="tx"/>
                              </a:ext>
                            </a:extLst>
                          </a:hlinkClick>
                        </a:rPr>
                        <a:t>https://quantela.com</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614549756"/>
                  </a:ext>
                </a:extLst>
              </a:tr>
              <a:tr h="854092">
                <a:tc>
                  <a:txBody>
                    <a:bodyPr/>
                    <a:lstStyle/>
                    <a:p>
                      <a:pPr>
                        <a:buNone/>
                      </a:pPr>
                      <a:r>
                        <a:rPr lang="en-US">
                          <a:solidFill>
                            <a:schemeClr val="tx1"/>
                          </a:solidFill>
                        </a:rPr>
                        <a:t>Accenture Smart City Ops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Global</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hlinkClick r:id="rId4">
                            <a:extLst>
                              <a:ext uri="{A12FA001-AC4F-418D-AE19-62706E023703}">
                                <ahyp:hlinkClr xmlns:ahyp="http://schemas.microsoft.com/office/drawing/2018/hyperlinkcolor" val="tx"/>
                              </a:ext>
                            </a:extLst>
                          </a:hlinkClick>
                        </a:rPr>
                        <a:t>https://accenture.com</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33655530"/>
                  </a:ext>
                </a:extLst>
              </a:tr>
              <a:tr h="854092">
                <a:tc>
                  <a:txBody>
                    <a:bodyPr/>
                    <a:lstStyle/>
                    <a:p>
                      <a:pPr>
                        <a:buNone/>
                      </a:pPr>
                      <a:r>
                        <a:rPr lang="en-US" err="1">
                          <a:solidFill>
                            <a:schemeClr val="tx1"/>
                          </a:solidFill>
                        </a:rPr>
                        <a:t>SafeGraph</a:t>
                      </a:r>
                      <a:r>
                        <a:rPr lang="en-US">
                          <a:solidFill>
                            <a:schemeClr val="tx1"/>
                          </a:solidFill>
                        </a:rPr>
                        <a:t> (Urban data)</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USA</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hlinkClick r:id="rId5">
                            <a:extLst>
                              <a:ext uri="{A12FA001-AC4F-418D-AE19-62706E023703}">
                                <ahyp:hlinkClr xmlns:ahyp="http://schemas.microsoft.com/office/drawing/2018/hyperlinkcolor" val="tx"/>
                              </a:ext>
                            </a:extLst>
                          </a:hlinkClick>
                        </a:rPr>
                        <a:t>https://safegraph.com</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133679198"/>
                  </a:ext>
                </a:extLst>
              </a:tr>
              <a:tr h="854092">
                <a:tc>
                  <a:txBody>
                    <a:bodyPr/>
                    <a:lstStyle/>
                    <a:p>
                      <a:pPr>
                        <a:buNone/>
                      </a:pPr>
                      <a:r>
                        <a:rPr lang="en-US">
                          <a:solidFill>
                            <a:schemeClr val="tx1"/>
                          </a:solidFill>
                        </a:rPr>
                        <a:t>Esri Smart City GIS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USA</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hlinkClick r:id="rId6">
                            <a:extLst>
                              <a:ext uri="{A12FA001-AC4F-418D-AE19-62706E023703}">
                                <ahyp:hlinkClr xmlns:ahyp="http://schemas.microsoft.com/office/drawing/2018/hyperlinkcolor" val="tx"/>
                              </a:ext>
                            </a:extLst>
                          </a:hlinkClick>
                        </a:rPr>
                        <a:t>https://esri.com</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1895462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52">
          <a:extLst>
            <a:ext uri="{FF2B5EF4-FFF2-40B4-BE49-F238E27FC236}">
              <a16:creationId xmlns:a16="http://schemas.microsoft.com/office/drawing/2014/main" id="{D3E5586F-5CC1-2760-E727-FC3209FC2FF3}"/>
            </a:ext>
          </a:extLst>
        </p:cNvPr>
        <p:cNvGrpSpPr/>
        <p:nvPr/>
      </p:nvGrpSpPr>
      <p:grpSpPr>
        <a:xfrm>
          <a:off x="0" y="0"/>
          <a:ext cx="0" cy="0"/>
          <a:chOff x="0" y="0"/>
          <a:chExt cx="0" cy="0"/>
        </a:xfrm>
      </p:grpSpPr>
      <p:sp>
        <p:nvSpPr>
          <p:cNvPr id="1053" name="Google Shape;1053;p49">
            <a:extLst>
              <a:ext uri="{FF2B5EF4-FFF2-40B4-BE49-F238E27FC236}">
                <a16:creationId xmlns:a16="http://schemas.microsoft.com/office/drawing/2014/main" id="{466AFBF5-B53C-8CFA-E98B-E433816622A4}"/>
              </a:ext>
            </a:extLst>
          </p:cNvPr>
          <p:cNvSpPr txBox="1">
            <a:spLocks noGrp="1"/>
          </p:cNvSpPr>
          <p:nvPr>
            <p:ph type="title"/>
          </p:nvPr>
        </p:nvSpPr>
        <p:spPr>
          <a:xfrm>
            <a:off x="234192" y="104344"/>
            <a:ext cx="11723615" cy="625500"/>
          </a:xfrm>
          <a:prstGeom prst="rect">
            <a:avLst/>
          </a:prstGeom>
          <a:noFill/>
          <a:ln>
            <a:noFill/>
          </a:ln>
        </p:spPr>
        <p:txBody>
          <a:bodyPr spcFirstLastPara="1" wrap="square" lIns="91425" tIns="45700" rIns="91425" bIns="45700" anchor="ctr" anchorCtr="0">
            <a:noAutofit/>
          </a:bodyPr>
          <a:lstStyle/>
          <a:p>
            <a:pPr>
              <a:buClr>
                <a:srgbClr val="CC0066"/>
              </a:buClr>
              <a:buSzPts val="3600"/>
            </a:pPr>
            <a:r>
              <a:rPr lang="en-IN" sz="3600" b="1" i="1">
                <a:solidFill>
                  <a:srgbClr val="CC0066"/>
                </a:solidFill>
                <a:latin typeface="Times New Roman"/>
                <a:cs typeface="Times New Roman"/>
                <a:sym typeface="Times New Roman"/>
              </a:rPr>
              <a:t>Architecture and System Flow </a:t>
            </a:r>
            <a:endParaRPr lang="en-IN" sz="3600" b="1" i="1">
              <a:solidFill>
                <a:srgbClr val="CC0066"/>
              </a:solidFill>
              <a:latin typeface="Times New Roman"/>
              <a:cs typeface="Times New Roman"/>
            </a:endParaRPr>
          </a:p>
        </p:txBody>
      </p:sp>
      <p:pic>
        <p:nvPicPr>
          <p:cNvPr id="2" name="Picture 1" descr="A diagram of a computer&#10;&#10;AI-generated content may be incorrect.">
            <a:extLst>
              <a:ext uri="{FF2B5EF4-FFF2-40B4-BE49-F238E27FC236}">
                <a16:creationId xmlns:a16="http://schemas.microsoft.com/office/drawing/2014/main" id="{6195E92C-2932-38F5-019B-07807A6A8B68}"/>
              </a:ext>
            </a:extLst>
          </p:cNvPr>
          <p:cNvPicPr>
            <a:picLocks noChangeAspect="1"/>
          </p:cNvPicPr>
          <p:nvPr/>
        </p:nvPicPr>
        <p:blipFill>
          <a:blip r:embed="rId3"/>
          <a:srcRect l="299" t="906" r="-299" b="9601"/>
          <a:stretch>
            <a:fillRect/>
          </a:stretch>
        </p:blipFill>
        <p:spPr>
          <a:xfrm>
            <a:off x="678978" y="743413"/>
            <a:ext cx="7302831" cy="5330660"/>
          </a:xfrm>
          <a:prstGeom prst="rect">
            <a:avLst/>
          </a:prstGeom>
        </p:spPr>
      </p:pic>
    </p:spTree>
    <p:extLst>
      <p:ext uri="{BB962C8B-B14F-4D97-AF65-F5344CB8AC3E}">
        <p14:creationId xmlns:p14="http://schemas.microsoft.com/office/powerpoint/2010/main" val="3386075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p54"/>
          <p:cNvSpPr txBox="1">
            <a:spLocks noGrp="1"/>
          </p:cNvSpPr>
          <p:nvPr>
            <p:ph type="title"/>
          </p:nvPr>
        </p:nvSpPr>
        <p:spPr>
          <a:xfrm>
            <a:off x="838200" y="383051"/>
            <a:ext cx="5000400" cy="717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6114D"/>
              </a:buClr>
              <a:buSzPts val="3600"/>
              <a:buFont typeface="Times New Roman"/>
              <a:buNone/>
            </a:pPr>
            <a:r>
              <a:rPr lang="en-IN" sz="3600" b="1" i="1">
                <a:solidFill>
                  <a:srgbClr val="B6114D"/>
                </a:solidFill>
                <a:latin typeface="Times New Roman"/>
                <a:ea typeface="Times New Roman"/>
                <a:cs typeface="Times New Roman"/>
                <a:sym typeface="Times New Roman"/>
              </a:rPr>
              <a:t>Workflow:</a:t>
            </a:r>
            <a:endParaRPr i="1"/>
          </a:p>
        </p:txBody>
      </p:sp>
      <p:sp>
        <p:nvSpPr>
          <p:cNvPr id="2" name="Text Placeholder 1">
            <a:extLst>
              <a:ext uri="{FF2B5EF4-FFF2-40B4-BE49-F238E27FC236}">
                <a16:creationId xmlns:a16="http://schemas.microsoft.com/office/drawing/2014/main" id="{6DCB6571-223D-870D-D70C-E125A7EC27F0}"/>
              </a:ext>
            </a:extLst>
          </p:cNvPr>
          <p:cNvSpPr>
            <a:spLocks noGrp="1" noChangeArrowheads="1"/>
          </p:cNvSpPr>
          <p:nvPr>
            <p:ph type="body" idx="1"/>
          </p:nvPr>
        </p:nvSpPr>
        <p:spPr bwMode="auto">
          <a:xfrm>
            <a:off x="602025" y="1057430"/>
            <a:ext cx="10246352" cy="4736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Clr>
                <a:srgbClr val="000000"/>
              </a:buClr>
              <a:buSzTx/>
              <a:buFont typeface="+mj-lt"/>
              <a:buChar char="•"/>
            </a:pPr>
            <a:r>
              <a:rPr kumimoji="0" lang="en-US" sz="1800" b="1" i="0" u="none" strike="noStrike" cap="none" normalizeH="0" baseline="0">
                <a:ln>
                  <a:noFill/>
                </a:ln>
                <a:solidFill>
                  <a:schemeClr val="tx1"/>
                </a:solidFill>
                <a:effectLst/>
                <a:cs typeface="Times New Roman"/>
              </a:rPr>
              <a:t>Input</a:t>
            </a:r>
            <a:r>
              <a:rPr lang="en-US" sz="1800" b="1">
                <a:solidFill>
                  <a:schemeClr val="tx1"/>
                </a:solidFill>
                <a:cs typeface="Times New Roman"/>
              </a:rPr>
              <a:t>:</a:t>
            </a:r>
            <a:r>
              <a:rPr lang="en-US" sz="1800">
                <a:solidFill>
                  <a:schemeClr val="tx1"/>
                </a:solidFill>
                <a:cs typeface="Times New Roman"/>
              </a:rPr>
              <a:t> City data</a:t>
            </a:r>
            <a:r>
              <a:rPr kumimoji="0" lang="en-US" sz="1800" b="0" i="0" u="none" strike="noStrike" cap="none" normalizeH="0" baseline="0">
                <a:ln>
                  <a:noFill/>
                </a:ln>
                <a:solidFill>
                  <a:schemeClr val="tx1"/>
                </a:solidFill>
                <a:effectLst/>
                <a:cs typeface="Times New Roman"/>
              </a:rPr>
              <a:t> is </a:t>
            </a:r>
            <a:r>
              <a:rPr lang="en-US" sz="1800">
                <a:solidFill>
                  <a:schemeClr val="tx1"/>
                </a:solidFill>
                <a:cs typeface="Times New Roman"/>
              </a:rPr>
              <a:t>collected from multiple sources including traffic </a:t>
            </a:r>
            <a:r>
              <a:rPr kumimoji="0" lang="en-US" sz="1800" i="0" u="none" strike="noStrike" cap="none" normalizeH="0" baseline="0">
                <a:ln>
                  <a:noFill/>
                </a:ln>
                <a:solidFill>
                  <a:schemeClr val="tx1"/>
                </a:solidFill>
                <a:effectLst/>
                <a:cs typeface="Times New Roman"/>
              </a:rPr>
              <a:t>APIs</a:t>
            </a:r>
            <a:r>
              <a:rPr lang="en-US" sz="1800">
                <a:solidFill>
                  <a:schemeClr val="tx1"/>
                </a:solidFill>
                <a:cs typeface="Times New Roman"/>
              </a:rPr>
              <a:t>, citizen complaints, sensor feeds, </a:t>
            </a:r>
            <a:endParaRPr lang="en-US">
              <a:solidFill>
                <a:schemeClr val="tx1"/>
              </a:solidFill>
              <a:cs typeface="Times New Roman"/>
            </a:endParaRPr>
          </a:p>
          <a:p>
            <a:pPr marL="50800" indent="0">
              <a:buClr>
                <a:srgbClr val="000000"/>
              </a:buClr>
              <a:buSzTx/>
              <a:buNone/>
            </a:pPr>
            <a:r>
              <a:rPr lang="en-US" sz="1800">
                <a:solidFill>
                  <a:schemeClr val="tx1"/>
                </a:solidFill>
                <a:cs typeface="Times New Roman"/>
              </a:rPr>
              <a:t>  and social media inputs.</a:t>
            </a:r>
            <a:endParaRPr lang="en-US">
              <a:solidFill>
                <a:schemeClr val="tx1"/>
              </a:solidFill>
              <a:cs typeface="Times New Roman"/>
            </a:endParaRPr>
          </a:p>
          <a:p>
            <a:pPr>
              <a:buClr>
                <a:srgbClr val="000000"/>
              </a:buClr>
              <a:buSzTx/>
              <a:buFont typeface="+mj-lt"/>
              <a:buChar char="•"/>
            </a:pPr>
            <a:r>
              <a:rPr lang="en-US" sz="1800" b="1">
                <a:solidFill>
                  <a:schemeClr val="tx1"/>
                </a:solidFill>
                <a:cs typeface="Times New Roman"/>
              </a:rPr>
              <a:t>Pre-Processing:</a:t>
            </a:r>
            <a:r>
              <a:rPr lang="en-US" sz="1800">
                <a:solidFill>
                  <a:schemeClr val="tx1"/>
                </a:solidFill>
                <a:cs typeface="Times New Roman"/>
              </a:rPr>
              <a:t> Backend services clean, normalize, and validate incoming data to ensure consistency across departments.</a:t>
            </a:r>
            <a:endParaRPr lang="en-US">
              <a:solidFill>
                <a:schemeClr val="tx1"/>
              </a:solidFill>
              <a:cs typeface="Times New Roman"/>
            </a:endParaRPr>
          </a:p>
          <a:p>
            <a:pPr>
              <a:buClr>
                <a:srgbClr val="000000"/>
              </a:buClr>
              <a:buSzTx/>
              <a:buFont typeface="+mj-lt"/>
              <a:buChar char="•"/>
            </a:pPr>
            <a:r>
              <a:rPr kumimoji="0" lang="en-US" sz="1800" b="1" i="0" u="none" strike="noStrike" cap="none" normalizeH="0" baseline="0">
                <a:ln>
                  <a:noFill/>
                </a:ln>
                <a:solidFill>
                  <a:schemeClr val="tx1"/>
                </a:solidFill>
                <a:effectLst/>
                <a:cs typeface="Times New Roman"/>
              </a:rPr>
              <a:t>AI </a:t>
            </a:r>
            <a:r>
              <a:rPr lang="en-US" sz="1800" b="1">
                <a:solidFill>
                  <a:schemeClr val="tx1"/>
                </a:solidFill>
                <a:cs typeface="Times New Roman"/>
              </a:rPr>
              <a:t>Analysis:</a:t>
            </a:r>
            <a:r>
              <a:rPr lang="en-US" sz="1800">
                <a:solidFill>
                  <a:schemeClr val="tx1"/>
                </a:solidFill>
                <a:cs typeface="Times New Roman"/>
              </a:rPr>
              <a:t> AI models classify incidents by type and severity, </a:t>
            </a:r>
            <a:r>
              <a:rPr kumimoji="0" lang="en-US" sz="1800" b="0" i="0" u="none" strike="noStrike" cap="none" normalizeH="0" baseline="0">
                <a:ln>
                  <a:noFill/>
                </a:ln>
                <a:solidFill>
                  <a:schemeClr val="tx1"/>
                </a:solidFill>
                <a:effectLst/>
                <a:cs typeface="Times New Roman"/>
              </a:rPr>
              <a:t>and </a:t>
            </a:r>
            <a:r>
              <a:rPr lang="en-US" sz="1800">
                <a:solidFill>
                  <a:schemeClr val="tx1"/>
                </a:solidFill>
                <a:cs typeface="Times New Roman"/>
              </a:rPr>
              <a:t>prioritize them based on urgency </a:t>
            </a:r>
            <a:r>
              <a:rPr kumimoji="0" lang="en-US" sz="1800" i="0" u="none" strike="noStrike" cap="none" normalizeH="0" baseline="0">
                <a:ln>
                  <a:noFill/>
                </a:ln>
                <a:solidFill>
                  <a:schemeClr val="tx1"/>
                </a:solidFill>
                <a:effectLst/>
                <a:cs typeface="Times New Roman"/>
              </a:rPr>
              <a:t>and </a:t>
            </a:r>
            <a:r>
              <a:rPr lang="en-US" sz="1800">
                <a:solidFill>
                  <a:schemeClr val="tx1"/>
                </a:solidFill>
                <a:cs typeface="Times New Roman"/>
              </a:rPr>
              <a:t>impact.</a:t>
            </a:r>
            <a:endParaRPr lang="en-US">
              <a:solidFill>
                <a:schemeClr val="tx1"/>
              </a:solidFill>
              <a:cs typeface="Times New Roman"/>
            </a:endParaRPr>
          </a:p>
          <a:p>
            <a:pPr>
              <a:buClr>
                <a:srgbClr val="000000"/>
              </a:buClr>
              <a:buSzTx/>
              <a:buFont typeface="+mj-lt"/>
              <a:buChar char="•"/>
            </a:pPr>
            <a:r>
              <a:rPr lang="en-US" sz="1800" b="1">
                <a:solidFill>
                  <a:schemeClr val="tx1"/>
                </a:solidFill>
                <a:cs typeface="Times New Roman"/>
              </a:rPr>
              <a:t>Decision &amp; </a:t>
            </a:r>
            <a:r>
              <a:rPr lang="en-US" sz="1800" b="1" err="1">
                <a:solidFill>
                  <a:schemeClr val="tx1"/>
                </a:solidFill>
                <a:cs typeface="Times New Roman"/>
              </a:rPr>
              <a:t>Routing:The</a:t>
            </a:r>
            <a:r>
              <a:rPr lang="en-US" sz="1800" b="1">
                <a:solidFill>
                  <a:schemeClr val="tx1"/>
                </a:solidFill>
                <a:cs typeface="Times New Roman"/>
              </a:rPr>
              <a:t> system automatically assigns incidents to the appropriate city </a:t>
            </a:r>
            <a:endParaRPr lang="en-US">
              <a:solidFill>
                <a:schemeClr val="tx1"/>
              </a:solidFill>
              <a:cs typeface="Times New Roman"/>
            </a:endParaRPr>
          </a:p>
          <a:p>
            <a:pPr marL="50800" indent="0">
              <a:buClr>
                <a:srgbClr val="000000"/>
              </a:buClr>
              <a:buSzTx/>
              <a:buNone/>
            </a:pPr>
            <a:r>
              <a:rPr lang="en-US" sz="1800" b="1">
                <a:solidFill>
                  <a:schemeClr val="tx1"/>
                </a:solidFill>
                <a:cs typeface="Times New Roman"/>
              </a:rPr>
              <a:t>  departments with smart escalation rules.</a:t>
            </a:r>
            <a:endParaRPr lang="en-US">
              <a:solidFill>
                <a:schemeClr val="tx1"/>
              </a:solidFill>
              <a:cs typeface="Times New Roman"/>
            </a:endParaRPr>
          </a:p>
          <a:p>
            <a:pPr>
              <a:buClr>
                <a:srgbClr val="000000"/>
              </a:buClr>
              <a:buSzTx/>
              <a:buFont typeface="+mj-lt"/>
              <a:buChar char="•"/>
            </a:pPr>
            <a:r>
              <a:rPr lang="en-US" sz="1800" b="1">
                <a:solidFill>
                  <a:schemeClr val="tx1"/>
                </a:solidFill>
                <a:cs typeface="Times New Roman"/>
              </a:rPr>
              <a:t>Action: </a:t>
            </a:r>
            <a:r>
              <a:rPr lang="en-US" sz="1800">
                <a:solidFill>
                  <a:schemeClr val="tx1"/>
                </a:solidFill>
                <a:cs typeface="Times New Roman"/>
              </a:rPr>
              <a:t>Field officers receive alerts, take action on-site, </a:t>
            </a:r>
            <a:r>
              <a:rPr kumimoji="0" lang="en-US" sz="1800" i="0" u="none" strike="noStrike" cap="none" normalizeH="0" baseline="0">
                <a:ln>
                  <a:noFill/>
                </a:ln>
                <a:solidFill>
                  <a:schemeClr val="tx1"/>
                </a:solidFill>
                <a:effectLst/>
                <a:cs typeface="Times New Roman"/>
              </a:rPr>
              <a:t>and </a:t>
            </a:r>
            <a:r>
              <a:rPr lang="en-US" sz="1800">
                <a:solidFill>
                  <a:schemeClr val="tx1"/>
                </a:solidFill>
                <a:cs typeface="Times New Roman"/>
              </a:rPr>
              <a:t>update the resolution status through the system.</a:t>
            </a:r>
            <a:endParaRPr lang="en-US">
              <a:solidFill>
                <a:schemeClr val="tx1"/>
              </a:solidFill>
              <a:cs typeface="Times New Roman"/>
            </a:endParaRPr>
          </a:p>
          <a:p>
            <a:pPr>
              <a:buClr>
                <a:srgbClr val="000000"/>
              </a:buClr>
              <a:buSzTx/>
              <a:buFont typeface="+mj-lt"/>
              <a:buChar char="•"/>
            </a:pPr>
            <a:r>
              <a:rPr lang="en-US" sz="1800" b="1">
                <a:solidFill>
                  <a:schemeClr val="tx1"/>
                </a:solidFill>
                <a:cs typeface="Times New Roman"/>
              </a:rPr>
              <a:t>Result:</a:t>
            </a:r>
            <a:r>
              <a:rPr lang="en-US" sz="1800">
                <a:solidFill>
                  <a:schemeClr val="tx1"/>
                </a:solidFill>
                <a:cs typeface="Times New Roman"/>
              </a:rPr>
              <a:t> City officials monitor real-time progress, response times, </a:t>
            </a:r>
            <a:r>
              <a:rPr kumimoji="0" lang="en-US" sz="1800" b="0" i="0" u="none" strike="noStrike" cap="none" normalizeH="0" baseline="0">
                <a:ln>
                  <a:noFill/>
                </a:ln>
                <a:solidFill>
                  <a:schemeClr val="tx1"/>
                </a:solidFill>
                <a:effectLst/>
                <a:cs typeface="Times New Roman"/>
              </a:rPr>
              <a:t>and </a:t>
            </a:r>
            <a:r>
              <a:rPr lang="en-US" sz="1800">
                <a:solidFill>
                  <a:schemeClr val="tx1"/>
                </a:solidFill>
                <a:cs typeface="Times New Roman"/>
              </a:rPr>
              <a:t>analytics through the command dashboard, </a:t>
            </a:r>
            <a:endParaRPr lang="en-US">
              <a:solidFill>
                <a:schemeClr val="tx1"/>
              </a:solidFill>
              <a:cs typeface="Times New Roman"/>
            </a:endParaRPr>
          </a:p>
          <a:p>
            <a:pPr marL="50800" indent="0">
              <a:buClr>
                <a:srgbClr val="000000"/>
              </a:buClr>
              <a:buSzTx/>
              <a:buNone/>
            </a:pPr>
            <a:r>
              <a:rPr lang="en-US" sz="1800">
                <a:solidFill>
                  <a:schemeClr val="tx1"/>
                </a:solidFill>
                <a:cs typeface="Times New Roman"/>
              </a:rPr>
              <a:t>  ensuring transparency </a:t>
            </a:r>
            <a:r>
              <a:rPr kumimoji="0" lang="en-US" sz="1800" i="0" u="none" strike="noStrike" cap="none" normalizeH="0" baseline="0">
                <a:ln>
                  <a:noFill/>
                </a:ln>
                <a:solidFill>
                  <a:schemeClr val="tx1"/>
                </a:solidFill>
                <a:effectLst/>
                <a:cs typeface="Times New Roman"/>
              </a:rPr>
              <a:t>and </a:t>
            </a:r>
            <a:r>
              <a:rPr lang="en-US" sz="1800">
                <a:solidFill>
                  <a:schemeClr val="tx1"/>
                </a:solidFill>
                <a:cs typeface="Times New Roman"/>
              </a:rPr>
              <a:t>efficient governance.</a:t>
            </a:r>
            <a:endParaRPr lang="en-US">
              <a:solidFill>
                <a:schemeClr val="tx1"/>
              </a:solidFill>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55"/>
          <p:cNvSpPr txBox="1">
            <a:spLocks noGrp="1"/>
          </p:cNvSpPr>
          <p:nvPr>
            <p:ph type="title"/>
          </p:nvPr>
        </p:nvSpPr>
        <p:spPr>
          <a:xfrm>
            <a:off x="838200" y="293149"/>
            <a:ext cx="5257800" cy="775800"/>
          </a:xfrm>
          <a:prstGeom prst="rect">
            <a:avLst/>
          </a:prstGeom>
          <a:noFill/>
          <a:ln>
            <a:noFill/>
          </a:ln>
        </p:spPr>
        <p:txBody>
          <a:bodyPr spcFirstLastPara="1" wrap="square" lIns="91425" tIns="45700" rIns="91425" bIns="45700" anchor="ctr" anchorCtr="0">
            <a:normAutofit/>
          </a:bodyPr>
          <a:lstStyle/>
          <a:p>
            <a:pPr>
              <a:buClr>
                <a:srgbClr val="CC0066"/>
              </a:buClr>
              <a:buSzPts val="3600"/>
              <a:buFont typeface="Times New Roman"/>
            </a:pPr>
            <a:r>
              <a:rPr lang="en-IN" sz="3600" b="1" i="1">
                <a:solidFill>
                  <a:srgbClr val="CC0066"/>
                </a:solidFill>
                <a:latin typeface="Times New Roman"/>
                <a:cs typeface="Times New Roman"/>
                <a:sym typeface="Times New Roman"/>
              </a:rPr>
              <a:t>Functional Requirements</a:t>
            </a:r>
            <a:endParaRPr lang="en-US" i="1"/>
          </a:p>
        </p:txBody>
      </p:sp>
      <p:sp>
        <p:nvSpPr>
          <p:cNvPr id="3" name="Text Placeholder 2">
            <a:extLst>
              <a:ext uri="{FF2B5EF4-FFF2-40B4-BE49-F238E27FC236}">
                <a16:creationId xmlns:a16="http://schemas.microsoft.com/office/drawing/2014/main" id="{34AD934B-156A-39C0-976C-E506BA620E09}"/>
              </a:ext>
            </a:extLst>
          </p:cNvPr>
          <p:cNvSpPr>
            <a:spLocks noGrp="1" noChangeArrowheads="1"/>
          </p:cNvSpPr>
          <p:nvPr>
            <p:ph type="body" idx="1"/>
          </p:nvPr>
        </p:nvSpPr>
        <p:spPr bwMode="auto">
          <a:xfrm>
            <a:off x="838200" y="1092480"/>
            <a:ext cx="9454354" cy="4736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cs typeface="Times New Roman"/>
              </a:rPr>
              <a:t>User registration and authentication</a:t>
            </a:r>
          </a:p>
          <a:p>
            <a:r>
              <a:rPr lang="en-US">
                <a:cs typeface="Times New Roman"/>
              </a:rPr>
              <a:t>Submission of incidents and urban issues by users</a:t>
            </a:r>
            <a:endParaRPr lang="en-US"/>
          </a:p>
          <a:p>
            <a:r>
              <a:rPr lang="en-US">
                <a:cs typeface="Times New Roman"/>
              </a:rPr>
              <a:t>Real-time data ingestion from multiple sources</a:t>
            </a:r>
            <a:endParaRPr lang="en-US"/>
          </a:p>
          <a:p>
            <a:r>
              <a:rPr lang="en-US">
                <a:cs typeface="Times New Roman"/>
              </a:rPr>
              <a:t>Intelligent classification and prioritization of incidents</a:t>
            </a:r>
            <a:endParaRPr lang="en-US"/>
          </a:p>
          <a:p>
            <a:r>
              <a:rPr lang="en-US">
                <a:cs typeface="Times New Roman"/>
              </a:rPr>
              <a:t>Automated routing of issues to relevant departments</a:t>
            </a:r>
            <a:endParaRPr lang="en-US"/>
          </a:p>
          <a:p>
            <a:r>
              <a:rPr lang="en-US">
                <a:cs typeface="Times New Roman"/>
              </a:rPr>
              <a:t>Real-time dashboard for monitoring city-wide activities</a:t>
            </a:r>
            <a:endParaRPr lang="en-US"/>
          </a:p>
          <a:p>
            <a:r>
              <a:rPr lang="en-US">
                <a:cs typeface="Times New Roman"/>
              </a:rPr>
              <a:t>Status tracking and resolution updates by field officers</a:t>
            </a:r>
            <a:endParaRPr lang="en-US"/>
          </a:p>
          <a:p>
            <a:r>
              <a:rPr lang="en-US">
                <a:cs typeface="Times New Roman"/>
              </a:rPr>
              <a:t>Report generation and historical data analysis</a:t>
            </a:r>
            <a:endParaRPr lang="en-US"/>
          </a:p>
          <a:p>
            <a:endParaRPr lang="en-US">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D37251E2-5EE3-F9A2-499B-DB1404520876}"/>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21FB2941-A8A8-08CC-42B3-1EEFEEFB71E0}"/>
              </a:ext>
            </a:extLst>
          </p:cNvPr>
          <p:cNvSpPr txBox="1">
            <a:spLocks noGrp="1"/>
          </p:cNvSpPr>
          <p:nvPr>
            <p:ph type="title"/>
          </p:nvPr>
        </p:nvSpPr>
        <p:spPr>
          <a:xfrm>
            <a:off x="421257" y="321904"/>
            <a:ext cx="5257800" cy="775800"/>
          </a:xfrm>
          <a:prstGeom prst="rect">
            <a:avLst/>
          </a:prstGeom>
          <a:noFill/>
          <a:ln>
            <a:noFill/>
          </a:ln>
        </p:spPr>
        <p:txBody>
          <a:bodyPr spcFirstLastPara="1" wrap="square" lIns="91425" tIns="45700" rIns="91425" bIns="45700" anchor="ctr" anchorCtr="0">
            <a:normAutofit fontScale="90000"/>
          </a:bodyPr>
          <a:lstStyle/>
          <a:p>
            <a:pPr>
              <a:buClr>
                <a:srgbClr val="CC0066"/>
              </a:buClr>
              <a:buSzPts val="3600"/>
              <a:buFont typeface="Times New Roman"/>
            </a:pPr>
            <a:r>
              <a:rPr lang="en-IN" sz="3600" b="1" i="1">
                <a:solidFill>
                  <a:srgbClr val="CC0066"/>
                </a:solidFill>
                <a:latin typeface="Times New Roman"/>
                <a:cs typeface="Times New Roman"/>
                <a:sym typeface="Times New Roman"/>
              </a:rPr>
              <a:t>Non-Functional Requirements</a:t>
            </a:r>
            <a:endParaRPr lang="en-US" i="1"/>
          </a:p>
        </p:txBody>
      </p:sp>
      <p:sp>
        <p:nvSpPr>
          <p:cNvPr id="3" name="Text Placeholder 2">
            <a:extLst>
              <a:ext uri="{FF2B5EF4-FFF2-40B4-BE49-F238E27FC236}">
                <a16:creationId xmlns:a16="http://schemas.microsoft.com/office/drawing/2014/main" id="{DECC3769-BAD0-76E3-D1CA-CAFD528D4B5F}"/>
              </a:ext>
            </a:extLst>
          </p:cNvPr>
          <p:cNvSpPr>
            <a:spLocks noGrp="1" noChangeArrowheads="1"/>
          </p:cNvSpPr>
          <p:nvPr>
            <p:ph type="body" idx="1"/>
          </p:nvPr>
        </p:nvSpPr>
        <p:spPr bwMode="auto">
          <a:xfrm>
            <a:off x="723181" y="1099481"/>
            <a:ext cx="9454354" cy="538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cs typeface="Times New Roman"/>
              </a:rPr>
              <a:t>Scalability: Ability to handle increasing data volume and users</a:t>
            </a:r>
            <a:endParaRPr lang="en-US"/>
          </a:p>
          <a:p>
            <a:r>
              <a:rPr lang="en-US">
                <a:cs typeface="Times New Roman"/>
              </a:rPr>
              <a:t>Performance: Low latency in data processing and dashboard updates</a:t>
            </a:r>
            <a:endParaRPr lang="en-US"/>
          </a:p>
          <a:p>
            <a:r>
              <a:rPr lang="en-US">
                <a:cs typeface="Times New Roman"/>
              </a:rPr>
              <a:t>Availability: High system uptime and fault tolerance</a:t>
            </a:r>
            <a:endParaRPr lang="en-US"/>
          </a:p>
          <a:p>
            <a:r>
              <a:rPr lang="en-US">
                <a:cs typeface="Times New Roman"/>
              </a:rPr>
              <a:t>Security: Secure authentication, authorization, and data privacy</a:t>
            </a:r>
            <a:endParaRPr lang="en-US"/>
          </a:p>
          <a:p>
            <a:r>
              <a:rPr lang="en-US">
                <a:cs typeface="Times New Roman"/>
              </a:rPr>
              <a:t>Reliability: Consistent system behavior under load</a:t>
            </a:r>
            <a:endParaRPr lang="en-US"/>
          </a:p>
          <a:p>
            <a:r>
              <a:rPr lang="en-US">
                <a:cs typeface="Times New Roman"/>
              </a:rPr>
              <a:t>Maintainability: Modular and extensible architecture</a:t>
            </a:r>
            <a:endParaRPr lang="en-US"/>
          </a:p>
          <a:p>
            <a:r>
              <a:rPr lang="en-US">
                <a:cs typeface="Times New Roman"/>
              </a:rPr>
              <a:t>Usability: Intuitive and user-friendly interface</a:t>
            </a:r>
            <a:endParaRPr lang="en-US"/>
          </a:p>
          <a:p>
            <a:pPr marL="50800" indent="0">
              <a:buNone/>
            </a:pPr>
            <a:endParaRPr lang="en-US">
              <a:cs typeface="Times New Roman" panose="02020603050405020304" pitchFamily="18" charset="0"/>
            </a:endParaRPr>
          </a:p>
        </p:txBody>
      </p:sp>
    </p:spTree>
    <p:extLst>
      <p:ext uri="{BB962C8B-B14F-4D97-AF65-F5344CB8AC3E}">
        <p14:creationId xmlns:p14="http://schemas.microsoft.com/office/powerpoint/2010/main" val="808049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BE2572BB-5DED-8A2B-E1AD-68AB72B5558D}"/>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E81C9F1B-2BD0-9F91-88F8-F0A6C992DA0E}"/>
              </a:ext>
            </a:extLst>
          </p:cNvPr>
          <p:cNvSpPr txBox="1">
            <a:spLocks noGrp="1"/>
          </p:cNvSpPr>
          <p:nvPr>
            <p:ph type="title"/>
          </p:nvPr>
        </p:nvSpPr>
        <p:spPr>
          <a:xfrm>
            <a:off x="838199" y="293149"/>
            <a:ext cx="7777481" cy="775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Expected Output</a:t>
            </a:r>
            <a:endParaRPr sz="3600" i="1"/>
          </a:p>
        </p:txBody>
      </p:sp>
      <p:sp>
        <p:nvSpPr>
          <p:cNvPr id="4" name="Rectangle 2">
            <a:extLst>
              <a:ext uri="{FF2B5EF4-FFF2-40B4-BE49-F238E27FC236}">
                <a16:creationId xmlns:a16="http://schemas.microsoft.com/office/drawing/2014/main" id="{430BE402-C78F-589C-4E75-7408DDD69A25}"/>
              </a:ext>
            </a:extLst>
          </p:cNvPr>
          <p:cNvSpPr>
            <a:spLocks noGrp="1" noChangeArrowheads="1"/>
          </p:cNvSpPr>
          <p:nvPr>
            <p:ph type="body" idx="1"/>
          </p:nvPr>
        </p:nvSpPr>
        <p:spPr bwMode="auto">
          <a:xfrm>
            <a:off x="378124" y="1711699"/>
            <a:ext cx="11431334" cy="3417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b="1">
                <a:cs typeface="Times New Roman" panose="02020603050405020304" pitchFamily="18" charset="0"/>
              </a:rPr>
              <a:t>Command Dashboard (Officials View):</a:t>
            </a:r>
            <a:endParaRPr lang="en-US" sz="1800">
              <a:latin typeface="Times New Roman" panose="02020603050405020304" pitchFamily="18" charset="0"/>
              <a:cs typeface="Times New Roman" panose="02020603050405020304" pitchFamily="18" charset="0"/>
            </a:endParaRPr>
          </a:p>
          <a:p>
            <a:r>
              <a:rPr lang="en-US" sz="1800">
                <a:cs typeface="Times New Roman" panose="02020603050405020304" pitchFamily="18" charset="0"/>
              </a:rPr>
              <a:t>Live city dashboard displaying active incidents, severity levels, and department-wise status with color-coded alerts.</a:t>
            </a:r>
            <a:endParaRPr lang="en-US"/>
          </a:p>
          <a:p>
            <a:r>
              <a:rPr lang="en-US" sz="1800" b="1">
                <a:cs typeface="Times New Roman" panose="02020603050405020304" pitchFamily="18" charset="0"/>
              </a:rPr>
              <a:t>AI Incident Intelligence:</a:t>
            </a:r>
            <a:endParaRPr lang="en-US"/>
          </a:p>
          <a:p>
            <a:r>
              <a:rPr lang="en-US" sz="1800">
                <a:cs typeface="Times New Roman" panose="02020603050405020304" pitchFamily="18" charset="0"/>
              </a:rPr>
              <a:t>Automatically classified incidents with priority tags (High / Medium / Low).</a:t>
            </a:r>
            <a:endParaRPr lang="en-US"/>
          </a:p>
          <a:p>
            <a:r>
              <a:rPr lang="en-US" sz="1800">
                <a:cs typeface="Times New Roman" panose="02020603050405020304" pitchFamily="18" charset="0"/>
              </a:rPr>
              <a:t>AI-generated summaries providing clear, actionable insights for faster decision-making.</a:t>
            </a:r>
            <a:endParaRPr lang="en-US"/>
          </a:p>
          <a:p>
            <a:r>
              <a:rPr lang="en-US" sz="1800" b="1">
                <a:cs typeface="Times New Roman" panose="02020603050405020304" pitchFamily="18" charset="0"/>
              </a:rPr>
              <a:t>Department &amp; Field Output:</a:t>
            </a:r>
            <a:endParaRPr lang="en-US"/>
          </a:p>
          <a:p>
            <a:r>
              <a:rPr lang="en-US" sz="1800">
                <a:cs typeface="Times New Roman" panose="02020603050405020304" pitchFamily="18" charset="0"/>
              </a:rPr>
              <a:t>Automated alert notifications sent to the appropriate departments and field officers.</a:t>
            </a:r>
            <a:endParaRPr lang="en-US"/>
          </a:p>
          <a:p>
            <a:pPr>
              <a:lnSpc>
                <a:spcPct val="200000"/>
              </a:lnSpc>
              <a:buClr>
                <a:srgbClr val="000000"/>
              </a:buClr>
            </a:pPr>
            <a:endParaRPr 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875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49435F95-0786-5F4D-4BAF-16780A39C756}"/>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29BFFE95-F510-8599-15BF-1CD6193868E6}"/>
              </a:ext>
            </a:extLst>
          </p:cNvPr>
          <p:cNvSpPr txBox="1">
            <a:spLocks noGrp="1"/>
          </p:cNvSpPr>
          <p:nvPr>
            <p:ph type="title"/>
          </p:nvPr>
        </p:nvSpPr>
        <p:spPr>
          <a:xfrm>
            <a:off x="838199" y="293149"/>
            <a:ext cx="7777481" cy="775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DevOps Solution</a:t>
            </a:r>
            <a:endParaRPr lang="en-IN" sz="3600" i="1"/>
          </a:p>
        </p:txBody>
      </p:sp>
      <p:sp>
        <p:nvSpPr>
          <p:cNvPr id="4" name="Rectangle 2">
            <a:extLst>
              <a:ext uri="{FF2B5EF4-FFF2-40B4-BE49-F238E27FC236}">
                <a16:creationId xmlns:a16="http://schemas.microsoft.com/office/drawing/2014/main" id="{A325AC16-6227-F1D0-6364-BBECBE573588}"/>
              </a:ext>
            </a:extLst>
          </p:cNvPr>
          <p:cNvSpPr>
            <a:spLocks noGrp="1" noChangeArrowheads="1"/>
          </p:cNvSpPr>
          <p:nvPr>
            <p:ph type="body" idx="1"/>
          </p:nvPr>
        </p:nvSpPr>
        <p:spPr bwMode="auto">
          <a:xfrm>
            <a:off x="838198" y="1303013"/>
            <a:ext cx="7530549" cy="4888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800" b="1">
                <a:cs typeface="Times New Roman"/>
              </a:rPr>
              <a:t>GitHub Actions:</a:t>
            </a:r>
            <a:r>
              <a:rPr lang="en-US" sz="1800">
                <a:cs typeface="Times New Roman"/>
              </a:rPr>
              <a:t> Automated pipelines run unit tests, API tests, and build checks on every code commit. Failed builds prevent deployment, ensuring system stability and reliability.</a:t>
            </a:r>
            <a:endParaRPr lang="en-US">
              <a:latin typeface="Times New Roman"/>
              <a:cs typeface="Times New Roman"/>
            </a:endParaRPr>
          </a:p>
          <a:p>
            <a:pPr>
              <a:lnSpc>
                <a:spcPct val="150000"/>
              </a:lnSpc>
            </a:pPr>
            <a:r>
              <a:rPr lang="en-US" sz="1800" b="1">
                <a:latin typeface="Times New Roman"/>
                <a:cs typeface="Times New Roman"/>
              </a:rPr>
              <a:t>CI/CD pipeline</a:t>
            </a:r>
            <a:r>
              <a:rPr lang="en-US" sz="1800">
                <a:latin typeface="Times New Roman"/>
                <a:cs typeface="Times New Roman"/>
              </a:rPr>
              <a:t> for automated build and deployment</a:t>
            </a:r>
            <a:endParaRPr lang="en-US">
              <a:cs typeface="Times New Roman"/>
            </a:endParaRPr>
          </a:p>
          <a:p>
            <a:pPr>
              <a:lnSpc>
                <a:spcPct val="150000"/>
              </a:lnSpc>
            </a:pPr>
            <a:r>
              <a:rPr lang="en-US" sz="1800" b="1">
                <a:cs typeface="Times New Roman"/>
              </a:rPr>
              <a:t>Docker:</a:t>
            </a:r>
            <a:r>
              <a:rPr lang="en-US" sz="1800">
                <a:cs typeface="Times New Roman"/>
              </a:rPr>
              <a:t> Used to containerize backend services, AI modules, and frontend applications to ensure consistent deployment across development, testing, and production environments.</a:t>
            </a:r>
            <a:endParaRPr lang="en-US"/>
          </a:p>
          <a:p>
            <a:pPr>
              <a:lnSpc>
                <a:spcPct val="150000"/>
              </a:lnSpc>
            </a:pPr>
            <a:r>
              <a:rPr lang="en-US" sz="1800">
                <a:latin typeface="Times New Roman"/>
                <a:cs typeface="Times New Roman"/>
              </a:rPr>
              <a:t>Automated testing before deployment to ensure stability</a:t>
            </a:r>
            <a:endParaRPr lang="en-US">
              <a:cs typeface="Times New Roman" panose="02020603050405020304" pitchFamily="18" charset="0"/>
            </a:endParaRPr>
          </a:p>
          <a:p>
            <a:pPr>
              <a:lnSpc>
                <a:spcPct val="150000"/>
              </a:lnSpc>
            </a:pPr>
            <a:r>
              <a:rPr lang="en-US" sz="1800">
                <a:latin typeface="Times New Roman" panose="02020603050405020304" pitchFamily="18" charset="0"/>
                <a:cs typeface="Times New Roman" panose="02020603050405020304" pitchFamily="18" charset="0"/>
              </a:rPr>
              <a:t>Continuous monitoring for application performance and errors</a:t>
            </a:r>
          </a:p>
          <a:p>
            <a:pPr marL="285750" indent="-285750" eaLnBrk="0" fontAlgn="base" hangingPunct="0">
              <a:lnSpc>
                <a:spcPct val="150000"/>
              </a:lnSpc>
              <a:spcBef>
                <a:spcPct val="0"/>
              </a:spcBef>
              <a:spcAft>
                <a:spcPct val="0"/>
              </a:spcAft>
              <a:buClrTx/>
              <a:buSzTx/>
            </a:pPr>
            <a:endParaRPr lang="en-US" altLang="en-US"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039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D1B7252D-E30F-44BD-D9E4-C291A5D1D094}"/>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DA176A2E-7CF1-F6C4-3AA7-128998B1C017}"/>
              </a:ext>
            </a:extLst>
          </p:cNvPr>
          <p:cNvSpPr txBox="1">
            <a:spLocks noGrp="1"/>
          </p:cNvSpPr>
          <p:nvPr>
            <p:ph type="title"/>
          </p:nvPr>
        </p:nvSpPr>
        <p:spPr>
          <a:xfrm>
            <a:off x="838199" y="293149"/>
            <a:ext cx="7777481" cy="775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Cloud Integration (Planned)</a:t>
            </a:r>
            <a:endParaRPr sz="3600" i="1"/>
          </a:p>
        </p:txBody>
      </p:sp>
      <p:sp>
        <p:nvSpPr>
          <p:cNvPr id="2" name="Text Placeholder 1">
            <a:extLst>
              <a:ext uri="{FF2B5EF4-FFF2-40B4-BE49-F238E27FC236}">
                <a16:creationId xmlns:a16="http://schemas.microsoft.com/office/drawing/2014/main" id="{1DBC07DF-0FC4-320D-038D-A7A79CB7F33C}"/>
              </a:ext>
            </a:extLst>
          </p:cNvPr>
          <p:cNvSpPr>
            <a:spLocks noGrp="1" noChangeArrowheads="1"/>
          </p:cNvSpPr>
          <p:nvPr>
            <p:ph type="body" idx="1"/>
          </p:nvPr>
        </p:nvSpPr>
        <p:spPr bwMode="auto">
          <a:xfrm>
            <a:off x="531541" y="1205903"/>
            <a:ext cx="961882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Times New Roman"/>
                <a:cs typeface="Times New Roman"/>
              </a:rPr>
              <a:t>Frontend Hosting:</a:t>
            </a:r>
            <a:r>
              <a:rPr kumimoji="0" lang="en-US" altLang="en-US" sz="1800" b="0" i="0" u="none" strike="noStrike" cap="none" normalizeH="0" baseline="0">
                <a:ln>
                  <a:noFill/>
                </a:ln>
                <a:solidFill>
                  <a:schemeClr val="tx1"/>
                </a:solidFill>
                <a:effectLst/>
                <a:latin typeface="Times New Roman"/>
                <a:cs typeface="Times New Roman"/>
              </a:rPr>
              <a:t> </a:t>
            </a:r>
            <a:r>
              <a:rPr kumimoji="0" lang="en-US" altLang="en-US" sz="1800" b="0" i="0" u="none" strike="noStrike" cap="none" normalizeH="0" baseline="0" err="1">
                <a:ln>
                  <a:noFill/>
                </a:ln>
                <a:solidFill>
                  <a:schemeClr val="tx1"/>
                </a:solidFill>
                <a:effectLst/>
                <a:latin typeface="Times New Roman"/>
                <a:cs typeface="Times New Roman"/>
              </a:rPr>
              <a:t>Vercel</a:t>
            </a:r>
            <a:r>
              <a:rPr kumimoji="0" lang="en-US" altLang="en-US" sz="1800" b="0" i="0" u="none" strike="noStrike" cap="none" normalizeH="0" baseline="0">
                <a:ln>
                  <a:noFill/>
                </a:ln>
                <a:solidFill>
                  <a:schemeClr val="tx1"/>
                </a:solidFill>
                <a:effectLst/>
                <a:latin typeface="Times New Roman"/>
                <a:cs typeface="Times New Roman"/>
              </a:rPr>
              <a:t> for scalable and fast UI delivery</a:t>
            </a:r>
            <a:endParaRPr lang="en-US">
              <a:solidFill>
                <a:schemeClr val="tx1"/>
              </a:solidFill>
            </a:endParaRPr>
          </a:p>
          <a:p>
            <a:pPr marL="0" marR="0" lvl="0" indent="0"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Times New Roman"/>
                <a:cs typeface="Times New Roman"/>
              </a:rPr>
              <a:t>Backend Hosting:</a:t>
            </a:r>
            <a:r>
              <a:rPr kumimoji="0" lang="en-US" altLang="en-US" sz="1800" b="0" i="0" u="none" strike="noStrike" cap="none" normalizeH="0" baseline="0">
                <a:ln>
                  <a:noFill/>
                </a:ln>
                <a:solidFill>
                  <a:schemeClr val="tx1"/>
                </a:solidFill>
                <a:effectLst/>
                <a:latin typeface="Times New Roman"/>
                <a:cs typeface="Times New Roman"/>
              </a:rPr>
              <a:t> Render / Railway for Node.js &amp; Express APIs</a:t>
            </a:r>
            <a:endParaRPr lang="en-US" altLang="en-US" sz="1800" b="0" i="0" u="none" strike="noStrike" cap="none" normalizeH="0" baseline="0">
              <a:ln>
                <a:noFill/>
              </a:ln>
              <a:solidFill>
                <a:schemeClr val="tx1"/>
              </a:solidFill>
              <a:effectLst/>
              <a:latin typeface="Times New Roman"/>
              <a:cs typeface="Times New Roman"/>
            </a:endParaRPr>
          </a:p>
          <a:p>
            <a:pPr marL="0" indent="0" eaLnBrk="0" fontAlgn="base" hangingPunct="0">
              <a:lnSpc>
                <a:spcPct val="250000"/>
              </a:lnSpc>
              <a:spcBef>
                <a:spcPct val="0"/>
              </a:spcBef>
              <a:spcAft>
                <a:spcPct val="0"/>
              </a:spcAft>
              <a:buClrTx/>
              <a:buSzTx/>
              <a:buFontTx/>
            </a:pPr>
            <a:r>
              <a:rPr kumimoji="0" lang="en-US" altLang="en-US" sz="1800" b="1" i="0" u="none" strike="noStrike" cap="none" normalizeH="0" baseline="0">
                <a:ln>
                  <a:noFill/>
                </a:ln>
                <a:solidFill>
                  <a:schemeClr val="tx1"/>
                </a:solidFill>
                <a:effectLst/>
                <a:latin typeface="Times New Roman"/>
                <a:cs typeface="Times New Roman"/>
              </a:rPr>
              <a:t>Database:</a:t>
            </a:r>
            <a:r>
              <a:rPr kumimoji="0" lang="en-US" altLang="en-US" sz="1800" b="0" i="0" u="none" strike="noStrike" cap="none" normalizeH="0" baseline="0">
                <a:ln>
                  <a:noFill/>
                </a:ln>
                <a:solidFill>
                  <a:schemeClr val="tx1"/>
                </a:solidFill>
                <a:effectLst/>
                <a:latin typeface="Times New Roman"/>
                <a:cs typeface="Times New Roman"/>
              </a:rPr>
              <a:t> MongoDB Atlas </a:t>
            </a:r>
            <a:endParaRPr lang="en-US" altLang="en-US" sz="1800">
              <a:solidFill>
                <a:schemeClr val="tx1"/>
              </a:solidFill>
              <a:latin typeface="Times New Roman"/>
              <a:cs typeface="Times New Roman"/>
            </a:endParaRPr>
          </a:p>
          <a:p>
            <a:pPr marL="0" indent="0" eaLnBrk="0" fontAlgn="base" hangingPunct="0">
              <a:lnSpc>
                <a:spcPct val="250000"/>
              </a:lnSpc>
              <a:spcBef>
                <a:spcPct val="0"/>
              </a:spcBef>
              <a:spcAft>
                <a:spcPct val="0"/>
              </a:spcAft>
              <a:buClrTx/>
              <a:buSzTx/>
            </a:pPr>
            <a:r>
              <a:rPr kumimoji="0" lang="en-US" altLang="en-US" sz="1800" b="1" i="0" u="none" strike="noStrike" cap="none" normalizeH="0" baseline="0">
                <a:ln>
                  <a:noFill/>
                </a:ln>
                <a:solidFill>
                  <a:schemeClr val="tx1"/>
                </a:solidFill>
                <a:effectLst/>
                <a:latin typeface="Times New Roman"/>
                <a:cs typeface="Times New Roman"/>
              </a:rPr>
              <a:t>AI Services:</a:t>
            </a:r>
            <a:r>
              <a:rPr kumimoji="0" lang="en-US" altLang="en-US" sz="1800" b="0" i="0" u="none" strike="noStrike" cap="none" normalizeH="0" baseline="0">
                <a:ln>
                  <a:noFill/>
                </a:ln>
                <a:solidFill>
                  <a:schemeClr val="tx1"/>
                </a:solidFill>
                <a:effectLst/>
                <a:latin typeface="Times New Roman"/>
                <a:cs typeface="Times New Roman"/>
              </a:rPr>
              <a:t> </a:t>
            </a:r>
            <a:r>
              <a:rPr lang="en-US" sz="1800">
                <a:solidFill>
                  <a:schemeClr val="tx1"/>
                </a:solidFill>
                <a:cs typeface="Times New Roman"/>
              </a:rPr>
              <a:t>AWS Lambda / Cloud Functions to run AI-based incident classification .</a:t>
            </a:r>
            <a:endParaRPr lang="en-US">
              <a:solidFill>
                <a:schemeClr val="tx1"/>
              </a:solidFill>
            </a:endParaRPr>
          </a:p>
          <a:p>
            <a:pPr marL="0" marR="0" lvl="0" indent="0"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Times New Roman"/>
                <a:cs typeface="Times New Roman"/>
              </a:rPr>
              <a:t>Storage:</a:t>
            </a:r>
            <a:r>
              <a:rPr kumimoji="0" lang="en-US" altLang="en-US" sz="1800" b="0" i="0" u="none" strike="noStrike" cap="none" normalizeH="0" baseline="0">
                <a:ln>
                  <a:noFill/>
                </a:ln>
                <a:solidFill>
                  <a:schemeClr val="tx1"/>
                </a:solidFill>
                <a:effectLst/>
                <a:latin typeface="Times New Roman"/>
                <a:cs typeface="Times New Roman"/>
              </a:rPr>
              <a:t> Cloud storage for logs and future document uploads</a:t>
            </a:r>
            <a:endParaRPr lang="en-US" altLang="en-US" sz="1800" b="0" i="0" u="none" strike="noStrike" cap="none" normalizeH="0" baseline="0">
              <a:ln>
                <a:noFill/>
              </a:ln>
              <a:solidFill>
                <a:schemeClr val="tx1"/>
              </a:solidFill>
              <a:effectLst/>
              <a:latin typeface="Times New Roman"/>
              <a:cs typeface="Times New Roman"/>
            </a:endParaRPr>
          </a:p>
          <a:p>
            <a:pPr marL="0" indent="0">
              <a:lnSpc>
                <a:spcPct val="250000"/>
              </a:lnSpc>
              <a:spcBef>
                <a:spcPct val="0"/>
              </a:spcBef>
              <a:spcAft>
                <a:spcPct val="0"/>
              </a:spcAft>
              <a:buClrTx/>
              <a:buSzTx/>
              <a:buFont typeface="Arial"/>
              <a:buChar char="•"/>
            </a:pPr>
            <a:r>
              <a:rPr lang="en-US" sz="1800" b="1">
                <a:solidFill>
                  <a:schemeClr val="tx1"/>
                </a:solidFill>
                <a:cs typeface="Times New Roman"/>
              </a:rPr>
              <a:t>Delivery</a:t>
            </a:r>
            <a:r>
              <a:rPr kumimoji="0" lang="en-US" sz="1800" b="1" i="0" u="none" strike="noStrike" cap="none" normalizeH="0" baseline="0">
                <a:ln>
                  <a:noFill/>
                </a:ln>
                <a:solidFill>
                  <a:schemeClr val="tx1"/>
                </a:solidFill>
                <a:effectLst/>
                <a:cs typeface="Times New Roman"/>
              </a:rPr>
              <a:t>:</a:t>
            </a:r>
            <a:r>
              <a:rPr kumimoji="0" lang="en-US" sz="1800" b="0" i="0" u="none" strike="noStrike" cap="none" normalizeH="0" baseline="0">
                <a:ln>
                  <a:noFill/>
                </a:ln>
                <a:solidFill>
                  <a:schemeClr val="tx1"/>
                </a:solidFill>
                <a:effectLst/>
                <a:cs typeface="Times New Roman"/>
              </a:rPr>
              <a:t> </a:t>
            </a:r>
            <a:r>
              <a:rPr lang="en-US" sz="1800">
                <a:solidFill>
                  <a:schemeClr val="tx1"/>
                </a:solidFill>
                <a:cs typeface="Times New Roman"/>
              </a:rPr>
              <a:t>CloudFront CDN for low-latency dashboard access </a:t>
            </a:r>
            <a:r>
              <a:rPr kumimoji="0" lang="en-US" sz="1800" b="0" i="0" u="none" strike="noStrike" cap="none" normalizeH="0" baseline="0">
                <a:ln>
                  <a:noFill/>
                </a:ln>
                <a:solidFill>
                  <a:schemeClr val="tx1"/>
                </a:solidFill>
                <a:effectLst/>
                <a:cs typeface="Times New Roman"/>
              </a:rPr>
              <a:t>and </a:t>
            </a:r>
            <a:r>
              <a:rPr lang="en-US" sz="1800">
                <a:solidFill>
                  <a:schemeClr val="tx1"/>
                </a:solidFill>
                <a:cs typeface="Times New Roman"/>
              </a:rPr>
              <a:t>fast data visualization.</a:t>
            </a:r>
            <a:endParaRPr lang="en-US"/>
          </a:p>
        </p:txBody>
      </p:sp>
    </p:spTree>
    <p:extLst>
      <p:ext uri="{BB962C8B-B14F-4D97-AF65-F5344CB8AC3E}">
        <p14:creationId xmlns:p14="http://schemas.microsoft.com/office/powerpoint/2010/main" val="424743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02EF0B1F-2DA0-D146-1E5B-44C6B9B0B389}"/>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F78A961D-4E2E-B823-1019-2C1A38F57670}"/>
              </a:ext>
            </a:extLst>
          </p:cNvPr>
          <p:cNvSpPr txBox="1">
            <a:spLocks noGrp="1"/>
          </p:cNvSpPr>
          <p:nvPr>
            <p:ph type="title"/>
          </p:nvPr>
        </p:nvSpPr>
        <p:spPr>
          <a:xfrm>
            <a:off x="838199" y="293149"/>
            <a:ext cx="7777481" cy="775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White papers / Research</a:t>
            </a:r>
            <a:endParaRPr sz="3600" i="1"/>
          </a:p>
        </p:txBody>
      </p:sp>
      <p:sp>
        <p:nvSpPr>
          <p:cNvPr id="2" name="Text Placeholder 1">
            <a:extLst>
              <a:ext uri="{FF2B5EF4-FFF2-40B4-BE49-F238E27FC236}">
                <a16:creationId xmlns:a16="http://schemas.microsoft.com/office/drawing/2014/main" id="{784A66B6-4E16-F7D7-1DD9-A35781BF9D4F}"/>
              </a:ext>
            </a:extLst>
          </p:cNvPr>
          <p:cNvSpPr>
            <a:spLocks noGrp="1" noChangeArrowheads="1"/>
          </p:cNvSpPr>
          <p:nvPr>
            <p:ph type="body" idx="1"/>
          </p:nvPr>
        </p:nvSpPr>
        <p:spPr bwMode="auto">
          <a:xfrm>
            <a:off x="838199" y="1382557"/>
            <a:ext cx="9975575" cy="388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a:cs typeface="Times New Roman" panose="02020603050405020304" pitchFamily="18" charset="0"/>
              </a:rPr>
              <a:t>Research Labs Referenced:</a:t>
            </a:r>
            <a:endParaRPr lang="en-US" sz="1800">
              <a:solidFill>
                <a:schemeClr val="tx1"/>
              </a:solidFill>
              <a:latin typeface="Times New Roman" panose="02020603050405020304" pitchFamily="18" charset="0"/>
              <a:cs typeface="Times New Roman" panose="02020603050405020304" pitchFamily="18" charset="0"/>
            </a:endParaRPr>
          </a:p>
          <a:p>
            <a:r>
              <a:rPr lang="en-US" sz="1800" b="1">
                <a:cs typeface="Times New Roman" panose="02020603050405020304" pitchFamily="18" charset="0"/>
              </a:rPr>
              <a:t>MIT </a:t>
            </a:r>
            <a:r>
              <a:rPr lang="en-US" sz="1800" b="1" err="1">
                <a:cs typeface="Times New Roman" panose="02020603050405020304" pitchFamily="18" charset="0"/>
              </a:rPr>
              <a:t>Senseable</a:t>
            </a:r>
            <a:r>
              <a:rPr lang="en-US" sz="1800" b="1">
                <a:cs typeface="Times New Roman" panose="02020603050405020304" pitchFamily="18" charset="0"/>
              </a:rPr>
              <a:t> City Lab:</a:t>
            </a:r>
            <a:r>
              <a:rPr lang="en-US" sz="1800">
                <a:cs typeface="Times New Roman" panose="02020603050405020304" pitchFamily="18" charset="0"/>
              </a:rPr>
              <a:t> Research on data-driven urban planning and real-time city intelligence systems.</a:t>
            </a:r>
            <a:endParaRPr lang="en-US"/>
          </a:p>
          <a:p>
            <a:r>
              <a:rPr lang="en-US" sz="1800" b="1">
                <a:cs typeface="Times New Roman" panose="02020603050405020304" pitchFamily="18" charset="0"/>
              </a:rPr>
              <a:t>IBM Research – Smart Cities: </a:t>
            </a:r>
            <a:r>
              <a:rPr lang="en-US" sz="1800">
                <a:cs typeface="Times New Roman" panose="02020603050405020304" pitchFamily="18" charset="0"/>
              </a:rPr>
              <a:t>Studies on AI-powered decision support and urban analytics platforms.</a:t>
            </a:r>
            <a:endParaRPr lang="en-US"/>
          </a:p>
          <a:p>
            <a:r>
              <a:rPr lang="en-US" sz="1800" b="1">
                <a:cs typeface="Times New Roman" panose="02020603050405020304" pitchFamily="18" charset="0"/>
              </a:rPr>
              <a:t>Relevant Papers:</a:t>
            </a:r>
            <a:endParaRPr lang="en-US"/>
          </a:p>
          <a:p>
            <a:r>
              <a:rPr lang="en-US" sz="1800">
                <a:cs typeface="Times New Roman" panose="02020603050405020304" pitchFamily="18" charset="0"/>
              </a:rPr>
              <a:t>“Smart City Data Integration and Analytics Framework” (IEEE Access, 2023).</a:t>
            </a:r>
            <a:endParaRPr lang="en-US"/>
          </a:p>
          <a:p>
            <a:r>
              <a:rPr lang="en-US" sz="1800" i="1">
                <a:cs typeface="Times New Roman" panose="02020603050405020304" pitchFamily="18" charset="0"/>
              </a:rPr>
              <a:t>“AI-Based Incident Detection and Response in Urban Environments” (ACM Digital Library, 2024).</a:t>
            </a:r>
            <a:endParaRPr lang="en-US"/>
          </a:p>
          <a:p>
            <a:r>
              <a:rPr lang="en-US" sz="1800" i="1">
                <a:cs typeface="Times New Roman" panose="02020603050405020304" pitchFamily="18" charset="0"/>
              </a:rPr>
              <a:t>“Can AI Teach Employability? A Multi-national Study”</a:t>
            </a:r>
            <a:r>
              <a:rPr lang="en-US" sz="1800">
                <a:cs typeface="Times New Roman" panose="02020603050405020304" pitchFamily="18" charset="0"/>
              </a:rPr>
              <a:t> “Predictive Analytics for Traffic and Urban Risk Management” (Elsevier, 2023).the need for AI coaching.</a:t>
            </a:r>
            <a:endParaRPr lang="en-US"/>
          </a:p>
          <a:p>
            <a:pPr>
              <a:lnSpc>
                <a:spcPct val="100000"/>
              </a:lnSpc>
            </a:pPr>
            <a:endParaRPr 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551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A628-1F6B-AFF6-EEA4-B94C26C375C7}"/>
              </a:ext>
            </a:extLst>
          </p:cNvPr>
          <p:cNvSpPr>
            <a:spLocks noGrp="1"/>
          </p:cNvSpPr>
          <p:nvPr>
            <p:ph type="ctrTitle"/>
          </p:nvPr>
        </p:nvSpPr>
        <p:spPr>
          <a:xfrm>
            <a:off x="1390650" y="-1587"/>
            <a:ext cx="9144000" cy="549375"/>
          </a:xfrm>
        </p:spPr>
        <p:txBody>
          <a:bodyPr>
            <a:normAutofit fontScale="90000"/>
          </a:bodyPr>
          <a:lstStyle/>
          <a:p>
            <a:r>
              <a:rPr lang="en-IN" sz="3600" i="1" dirty="0">
                <a:solidFill>
                  <a:srgbClr val="CC0066"/>
                </a:solidFill>
                <a:latin typeface="Times New Roman"/>
                <a:cs typeface="Times New Roman"/>
              </a:rPr>
              <a:t>Hackathon </a:t>
            </a:r>
            <a:r>
              <a:rPr lang="en-IN" sz="3600" i="1">
                <a:solidFill>
                  <a:srgbClr val="CC0066"/>
                </a:solidFill>
                <a:latin typeface="Times New Roman"/>
                <a:cs typeface="Times New Roman"/>
              </a:rPr>
              <a:t>Referred</a:t>
            </a:r>
            <a:r>
              <a:rPr lang="en-IN" sz="3600" i="1" dirty="0">
                <a:solidFill>
                  <a:srgbClr val="CC0066"/>
                </a:solidFill>
                <a:latin typeface="Times New Roman"/>
                <a:cs typeface="Times New Roman"/>
              </a:rPr>
              <a:t> </a:t>
            </a:r>
          </a:p>
        </p:txBody>
      </p:sp>
      <p:sp>
        <p:nvSpPr>
          <p:cNvPr id="3" name="Subtitle 2">
            <a:extLst>
              <a:ext uri="{FF2B5EF4-FFF2-40B4-BE49-F238E27FC236}">
                <a16:creationId xmlns:a16="http://schemas.microsoft.com/office/drawing/2014/main" id="{642EC613-2259-DB49-B1AE-82633F6F658E}"/>
              </a:ext>
            </a:extLst>
          </p:cNvPr>
          <p:cNvSpPr>
            <a:spLocks noGrp="1"/>
          </p:cNvSpPr>
          <p:nvPr>
            <p:ph type="subTitle" idx="1"/>
          </p:nvPr>
        </p:nvSpPr>
        <p:spPr>
          <a:xfrm>
            <a:off x="0" y="773113"/>
            <a:ext cx="12192000" cy="4484625"/>
          </a:xfrm>
        </p:spPr>
        <p:txBody>
          <a:bodyPr>
            <a:normAutofit lnSpcReduction="10000"/>
          </a:bodyPr>
          <a:lstStyle/>
          <a:p>
            <a:r>
              <a:rPr lang="en-US" dirty="0"/>
              <a:t>Google agentic Day AI hackathon</a:t>
            </a:r>
          </a:p>
          <a:p>
            <a:pPr algn="l"/>
            <a:r>
              <a:rPr lang="en-US" b="1" dirty="0"/>
              <a:t>The Challenge</a:t>
            </a:r>
            <a:endParaRPr lang="en-US" dirty="0"/>
          </a:p>
          <a:p>
            <a:pPr marL="285750" indent="-285750" algn="l">
              <a:buChar char="•"/>
            </a:pPr>
            <a:r>
              <a:rPr lang="en-US" dirty="0"/>
              <a:t>A city like </a:t>
            </a:r>
            <a:r>
              <a:rPr lang="en-US" b="1" dirty="0"/>
              <a:t>Bengaluru</a:t>
            </a:r>
            <a:r>
              <a:rPr lang="en-US" dirty="0"/>
              <a:t> generates massive real‑time data from traffic, civic issues, and social activity.</a:t>
            </a:r>
          </a:p>
          <a:p>
            <a:pPr marL="285750" indent="-285750" algn="l">
              <a:buChar char="•"/>
            </a:pPr>
            <a:r>
              <a:rPr lang="en-US" dirty="0"/>
              <a:t>This data is noisy, scattered across platforms, and becomes outdated quickly.</a:t>
            </a:r>
          </a:p>
          <a:p>
            <a:pPr marL="285750" indent="-285750" algn="l">
              <a:buChar char="•"/>
            </a:pPr>
            <a:r>
              <a:rPr lang="en-US" dirty="0"/>
              <a:t>The challenge is to </a:t>
            </a:r>
            <a:r>
              <a:rPr lang="en-US" b="1" dirty="0"/>
              <a:t>extract meaningful signals</a:t>
            </a:r>
            <a:r>
              <a:rPr lang="en-US" dirty="0"/>
              <a:t> and represent the </a:t>
            </a:r>
            <a:r>
              <a:rPr lang="en-US" b="1" dirty="0"/>
              <a:t>live pulse of the city</a:t>
            </a:r>
            <a:r>
              <a:rPr lang="en-US" dirty="0"/>
              <a:t>.</a:t>
            </a:r>
          </a:p>
          <a:p>
            <a:pPr indent="0" algn="l"/>
            <a:endParaRPr lang="en-US" dirty="0"/>
          </a:p>
          <a:p>
            <a:pPr algn="l"/>
            <a:r>
              <a:rPr lang="en-US" b="1" dirty="0"/>
              <a:t>The Objective</a:t>
            </a:r>
            <a:endParaRPr lang="en-US"/>
          </a:p>
          <a:p>
            <a:pPr marL="285750" indent="-285750" algn="l">
              <a:buChar char="•"/>
            </a:pPr>
            <a:r>
              <a:rPr lang="en-US" dirty="0"/>
              <a:t>Build an </a:t>
            </a:r>
            <a:r>
              <a:rPr lang="en-US" b="1" dirty="0"/>
              <a:t>agentic AI application</a:t>
            </a:r>
            <a:r>
              <a:rPr lang="en-US" dirty="0"/>
              <a:t> that provides a </a:t>
            </a:r>
            <a:r>
              <a:rPr lang="en-US" b="1" dirty="0"/>
              <a:t>live, intelligent, and unified view</a:t>
            </a:r>
            <a:r>
              <a:rPr lang="en-US" dirty="0"/>
              <a:t> of the city.</a:t>
            </a:r>
          </a:p>
          <a:p>
            <a:pPr marL="285750" indent="-285750" algn="l">
              <a:buChar char="•"/>
            </a:pPr>
            <a:r>
              <a:rPr lang="en-US" dirty="0"/>
              <a:t>Transform scattered reports into </a:t>
            </a:r>
            <a:r>
              <a:rPr lang="en-US" b="1" dirty="0"/>
              <a:t>clear, actionable insights</a:t>
            </a:r>
            <a:r>
              <a:rPr lang="en-US" dirty="0"/>
              <a:t> for citizens and authorities.</a:t>
            </a:r>
          </a:p>
          <a:p>
            <a:endParaRPr lang="en-US" dirty="0"/>
          </a:p>
        </p:txBody>
      </p:sp>
    </p:spTree>
    <p:extLst>
      <p:ext uri="{BB962C8B-B14F-4D97-AF65-F5344CB8AC3E}">
        <p14:creationId xmlns:p14="http://schemas.microsoft.com/office/powerpoint/2010/main" val="2083914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7E9ABE17-C759-7BCA-3E8F-D8A46D83C7E9}"/>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56AC86B5-9FD0-2A7B-D304-DC93BA170650}"/>
              </a:ext>
            </a:extLst>
          </p:cNvPr>
          <p:cNvSpPr txBox="1">
            <a:spLocks noGrp="1"/>
          </p:cNvSpPr>
          <p:nvPr>
            <p:ph type="title"/>
          </p:nvPr>
        </p:nvSpPr>
        <p:spPr>
          <a:xfrm>
            <a:off x="838199" y="293149"/>
            <a:ext cx="7777481" cy="775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Cost of the product </a:t>
            </a:r>
            <a:endParaRPr sz="3600" i="1"/>
          </a:p>
        </p:txBody>
      </p:sp>
      <p:sp>
        <p:nvSpPr>
          <p:cNvPr id="2" name="Text Placeholder 1">
            <a:extLst>
              <a:ext uri="{FF2B5EF4-FFF2-40B4-BE49-F238E27FC236}">
                <a16:creationId xmlns:a16="http://schemas.microsoft.com/office/drawing/2014/main" id="{6809DF4C-E27E-D0C8-DDB4-3B8296BF1B57}"/>
              </a:ext>
            </a:extLst>
          </p:cNvPr>
          <p:cNvSpPr>
            <a:spLocks noGrp="1" noChangeArrowheads="1"/>
          </p:cNvSpPr>
          <p:nvPr>
            <p:ph type="body" idx="1"/>
          </p:nvPr>
        </p:nvSpPr>
        <p:spPr bwMode="auto">
          <a:xfrm>
            <a:off x="838200" y="965584"/>
            <a:ext cx="9965636" cy="5242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700">
                <a:latin typeface="Times New Roman"/>
                <a:cs typeface="Times New Roman"/>
              </a:rPr>
              <a:t>Built using </a:t>
            </a:r>
            <a:r>
              <a:rPr lang="en-US" sz="1700" b="1">
                <a:latin typeface="Times New Roman"/>
                <a:cs typeface="Times New Roman"/>
              </a:rPr>
              <a:t>open-source technologies</a:t>
            </a:r>
            <a:r>
              <a:rPr lang="en-US" sz="1700">
                <a:latin typeface="Times New Roman"/>
                <a:cs typeface="Times New Roman"/>
              </a:rPr>
              <a:t> (MERN stack), reducing development cost</a:t>
            </a:r>
          </a:p>
          <a:p>
            <a:pPr>
              <a:lnSpc>
                <a:spcPct val="150000"/>
              </a:lnSpc>
            </a:pPr>
            <a:r>
              <a:rPr lang="en-US" sz="1700">
                <a:latin typeface="Times New Roman"/>
                <a:cs typeface="Times New Roman"/>
              </a:rPr>
              <a:t>Uses </a:t>
            </a:r>
            <a:r>
              <a:rPr lang="en-US" sz="1700" b="1">
                <a:latin typeface="Times New Roman"/>
                <a:cs typeface="Times New Roman"/>
              </a:rPr>
              <a:t>cloud-based services</a:t>
            </a:r>
            <a:r>
              <a:rPr lang="en-US" sz="1700">
                <a:latin typeface="Times New Roman"/>
                <a:cs typeface="Times New Roman"/>
              </a:rPr>
              <a:t> with </a:t>
            </a:r>
            <a:r>
              <a:rPr lang="en-US" sz="1700" b="1">
                <a:latin typeface="Times New Roman"/>
                <a:cs typeface="Times New Roman"/>
              </a:rPr>
              <a:t>free or student-tier plans</a:t>
            </a:r>
            <a:r>
              <a:rPr lang="en-US" sz="1700">
                <a:latin typeface="Times New Roman"/>
                <a:cs typeface="Times New Roman"/>
              </a:rPr>
              <a:t> during initial deployment</a:t>
            </a:r>
          </a:p>
          <a:p>
            <a:pPr>
              <a:lnSpc>
                <a:spcPct val="150000"/>
              </a:lnSpc>
            </a:pPr>
            <a:r>
              <a:rPr lang="en-US" sz="1700">
                <a:latin typeface="Times New Roman"/>
                <a:cs typeface="Times New Roman"/>
              </a:rPr>
              <a:t>Major cost components:</a:t>
            </a:r>
          </a:p>
          <a:p>
            <a:pPr lvl="1">
              <a:lnSpc>
                <a:spcPct val="150000"/>
              </a:lnSpc>
            </a:pPr>
            <a:r>
              <a:rPr lang="en-US" sz="1700" b="1">
                <a:cs typeface="Times New Roman"/>
              </a:rPr>
              <a:t>AI &amp; Analytics Costs: F</a:t>
            </a:r>
            <a:r>
              <a:rPr lang="en-US" sz="1700">
                <a:cs typeface="Times New Roman"/>
              </a:rPr>
              <a:t>or AI model inference, LLM-based incident classification, and predictive analytics APIs.</a:t>
            </a:r>
            <a:endParaRPr lang="en-US"/>
          </a:p>
          <a:p>
            <a:pPr lvl="1">
              <a:lnSpc>
                <a:spcPct val="150000"/>
              </a:lnSpc>
            </a:pPr>
            <a:r>
              <a:rPr lang="en-US" sz="1700">
                <a:latin typeface="Times New Roman"/>
                <a:cs typeface="Times New Roman"/>
              </a:rPr>
              <a:t>Database storage (MongoDB Atlas)</a:t>
            </a:r>
          </a:p>
          <a:p>
            <a:pPr lvl="1">
              <a:lnSpc>
                <a:spcPct val="150000"/>
              </a:lnSpc>
            </a:pPr>
            <a:r>
              <a:rPr lang="en-US" sz="1700" b="1">
                <a:cs typeface="Times New Roman"/>
              </a:rPr>
              <a:t>Compute (Cloud VMs + Serverless):</a:t>
            </a:r>
            <a:r>
              <a:rPr lang="en-US" sz="1700">
                <a:cs typeface="Times New Roman"/>
              </a:rPr>
              <a:t> For hosting frontend, backend services, and AI microservices handling real-time city data and incident processing.</a:t>
            </a:r>
          </a:p>
          <a:p>
            <a:pPr>
              <a:lnSpc>
                <a:spcPct val="150000"/>
              </a:lnSpc>
            </a:pPr>
            <a:r>
              <a:rPr lang="en-US" sz="1700">
                <a:latin typeface="Times New Roman"/>
                <a:cs typeface="Times New Roman"/>
              </a:rPr>
              <a:t>Overall product cost is </a:t>
            </a:r>
            <a:r>
              <a:rPr lang="en-US" sz="1700" b="1">
                <a:latin typeface="Times New Roman"/>
                <a:cs typeface="Times New Roman"/>
              </a:rPr>
              <a:t>cost-effective and scalable</a:t>
            </a:r>
            <a:r>
              <a:rPr lang="en-US" sz="1700">
                <a:latin typeface="Times New Roman"/>
                <a:cs typeface="Times New Roman"/>
              </a:rPr>
              <a:t> based on user growth</a:t>
            </a:r>
          </a:p>
          <a:p>
            <a:pPr>
              <a:lnSpc>
                <a:spcPct val="150000"/>
              </a:lnSpc>
              <a:buClr>
                <a:srgbClr val="000000"/>
              </a:buClr>
            </a:pPr>
            <a:r>
              <a:rPr lang="en-US" sz="1700">
                <a:solidFill>
                  <a:schemeClr val="tx1"/>
                </a:solidFill>
                <a:cs typeface="Times New Roman"/>
              </a:rPr>
              <a:t>Significantly lower than traditional manual monitoring systems and scalable as city usage grows.</a:t>
            </a:r>
            <a:endParaRPr lang="en-US" sz="1700" b="0" i="0" u="none" strike="noStrike" cap="none" normalizeH="0" baseline="0">
              <a:ln>
                <a:noFill/>
              </a:ln>
              <a:solidFill>
                <a:schemeClr val="tx1"/>
              </a:solidFill>
              <a:effectLst/>
              <a:latin typeface="Times New Roman" panose="02020603050405020304" pitchFamily="18" charset="0"/>
              <a:cs typeface="Times New Roman"/>
            </a:endParaRPr>
          </a:p>
          <a:p>
            <a:pPr marL="285750" indent="-285750" eaLnBrk="0" fontAlgn="base" hangingPunct="0">
              <a:lnSpc>
                <a:spcPct val="150000"/>
              </a:lnSpc>
              <a:spcBef>
                <a:spcPct val="0"/>
              </a:spcBef>
              <a:spcAft>
                <a:spcPct val="0"/>
              </a:spcAft>
              <a:buClrTx/>
              <a:buSzTx/>
            </a:pPr>
            <a:endParaRPr lang="en-US" altLang="en-US" sz="17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8718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39A33CF2-19F2-AFD8-E952-505E25B3CE0D}"/>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586AD7CF-E8DE-379D-B6D2-C2BEB762284C}"/>
              </a:ext>
            </a:extLst>
          </p:cNvPr>
          <p:cNvSpPr txBox="1">
            <a:spLocks noGrp="1"/>
          </p:cNvSpPr>
          <p:nvPr>
            <p:ph type="title"/>
          </p:nvPr>
        </p:nvSpPr>
        <p:spPr>
          <a:xfrm>
            <a:off x="320614" y="293149"/>
            <a:ext cx="7777481" cy="775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C0066"/>
              </a:buClr>
              <a:buSzPts val="3600"/>
              <a:buFont typeface="Times New Roman"/>
              <a:buNone/>
            </a:pPr>
            <a:r>
              <a:rPr lang="en-IN" sz="3600" b="1" i="1">
                <a:solidFill>
                  <a:srgbClr val="CC0066"/>
                </a:solidFill>
                <a:latin typeface="Times New Roman"/>
                <a:cs typeface="Times New Roman"/>
                <a:sym typeface="Times New Roman"/>
              </a:rPr>
              <a:t>Our product is unique - Reasons </a:t>
            </a:r>
            <a:endParaRPr sz="3600" i="1"/>
          </a:p>
        </p:txBody>
      </p:sp>
      <p:sp>
        <p:nvSpPr>
          <p:cNvPr id="2" name="Text Placeholder 1">
            <a:extLst>
              <a:ext uri="{FF2B5EF4-FFF2-40B4-BE49-F238E27FC236}">
                <a16:creationId xmlns:a16="http://schemas.microsoft.com/office/drawing/2014/main" id="{62D3077E-F31B-621E-9C40-A1C151786882}"/>
              </a:ext>
            </a:extLst>
          </p:cNvPr>
          <p:cNvSpPr>
            <a:spLocks noGrp="1" noChangeArrowheads="1"/>
          </p:cNvSpPr>
          <p:nvPr>
            <p:ph type="body" idx="1"/>
          </p:nvPr>
        </p:nvSpPr>
        <p:spPr bwMode="auto">
          <a:xfrm>
            <a:off x="838200" y="1072901"/>
            <a:ext cx="9965636" cy="5015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a:cs typeface="Times New Roman"/>
              </a:rPr>
              <a:t>The “Intelligent Automation” Leap:</a:t>
            </a:r>
            <a:endParaRPr lang="en-US" sz="2400">
              <a:solidFill>
                <a:schemeClr val="tx1"/>
              </a:solidFill>
              <a:latin typeface="Times New Roman"/>
              <a:cs typeface="Times New Roman"/>
            </a:endParaRPr>
          </a:p>
          <a:p>
            <a:r>
              <a:rPr lang="en-US" sz="2400">
                <a:cs typeface="Times New Roman"/>
              </a:rPr>
              <a:t>While traditional city dashboards are passive systems that only display data, our platform acts as an Intelligent Command Engine.</a:t>
            </a:r>
          </a:p>
          <a:p>
            <a:r>
              <a:rPr lang="en-US" sz="2400">
                <a:cs typeface="Times New Roman"/>
              </a:rPr>
              <a:t>It automatically classifies incidents, prioritizes severity, and routes alerts to the correct departments instead of relying on manual coordination.</a:t>
            </a:r>
          </a:p>
          <a:p>
            <a:r>
              <a:rPr lang="en-US" sz="2400" b="1">
                <a:cs typeface="Times New Roman"/>
              </a:rPr>
              <a:t>The “Closed-Loop Governance” Model:</a:t>
            </a:r>
            <a:endParaRPr lang="en-US" sz="2400">
              <a:cs typeface="Times New Roman"/>
            </a:endParaRPr>
          </a:p>
          <a:p>
            <a:r>
              <a:rPr lang="en-US" sz="2400">
                <a:cs typeface="Times New Roman"/>
              </a:rPr>
              <a:t>The system uniquely connects incident detection → AI analysis → department action → resolution tracking → audit reporting in a single continuous loop.</a:t>
            </a:r>
          </a:p>
          <a:p>
            <a:r>
              <a:rPr lang="en-US" sz="2400">
                <a:cs typeface="Times New Roman"/>
              </a:rPr>
              <a:t>City officials can go from incident identification to verified resolution with full transparency and minimal human intervention.</a:t>
            </a:r>
          </a:p>
          <a:p>
            <a:pPr>
              <a:lnSpc>
                <a:spcPct val="100000"/>
              </a:lnSpc>
            </a:pPr>
            <a:endParaRPr 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779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BBB8919C-7949-5582-FFAD-68C0C8CC4794}"/>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34487E32-D752-3C77-A740-F00B252F94CB}"/>
              </a:ext>
            </a:extLst>
          </p:cNvPr>
          <p:cNvSpPr txBox="1">
            <a:spLocks noGrp="1"/>
          </p:cNvSpPr>
          <p:nvPr>
            <p:ph type="title"/>
          </p:nvPr>
        </p:nvSpPr>
        <p:spPr>
          <a:xfrm>
            <a:off x="320614" y="84382"/>
            <a:ext cx="7777481" cy="775800"/>
          </a:xfrm>
          <a:prstGeom prst="rect">
            <a:avLst/>
          </a:prstGeom>
          <a:noFill/>
          <a:ln>
            <a:noFill/>
          </a:ln>
        </p:spPr>
        <p:txBody>
          <a:bodyPr spcFirstLastPara="1" wrap="square" lIns="91425" tIns="45700" rIns="91425" bIns="45700" anchor="ctr" anchorCtr="0">
            <a:noAutofit/>
          </a:bodyPr>
          <a:lstStyle/>
          <a:p>
            <a:r>
              <a:rPr lang="en-IN" sz="3600" i="1" dirty="0">
                <a:solidFill>
                  <a:srgbClr val="CC0066"/>
                </a:solidFill>
                <a:latin typeface="Times New Roman"/>
                <a:sym typeface="Times New Roman"/>
              </a:rPr>
              <a:t>List of Modules with Explanation </a:t>
            </a:r>
            <a:endParaRPr lang="en-US" i="1">
              <a:latin typeface="Times New Roman"/>
            </a:endParaRPr>
          </a:p>
        </p:txBody>
      </p:sp>
      <p:sp>
        <p:nvSpPr>
          <p:cNvPr id="2" name="Text Placeholder 1">
            <a:extLst>
              <a:ext uri="{FF2B5EF4-FFF2-40B4-BE49-F238E27FC236}">
                <a16:creationId xmlns:a16="http://schemas.microsoft.com/office/drawing/2014/main" id="{A3688B15-940C-F863-77A7-A357BD584C9B}"/>
              </a:ext>
            </a:extLst>
          </p:cNvPr>
          <p:cNvSpPr>
            <a:spLocks noGrp="1" noChangeArrowheads="1"/>
          </p:cNvSpPr>
          <p:nvPr>
            <p:ph type="body" idx="1"/>
          </p:nvPr>
        </p:nvSpPr>
        <p:spPr bwMode="auto">
          <a:xfrm>
            <a:off x="316282" y="853154"/>
            <a:ext cx="10967717" cy="516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0800" indent="0">
              <a:buNone/>
            </a:pPr>
            <a:r>
              <a:rPr lang="en-US" sz="2100" b="1" dirty="0">
                <a:cs typeface="Times New Roman"/>
              </a:rPr>
              <a:t>1. Multi-Source Data Collection Module</a:t>
            </a:r>
            <a:endParaRPr lang="en-US" sz="2400" dirty="0">
              <a:solidFill>
                <a:schemeClr val="tx1"/>
              </a:solidFill>
              <a:latin typeface="Times New Roman"/>
              <a:cs typeface="Times New Roman"/>
            </a:endParaRPr>
          </a:p>
          <a:p>
            <a:pPr marL="50800" indent="0">
              <a:buNone/>
            </a:pPr>
            <a:r>
              <a:rPr lang="en-US" sz="2100" dirty="0">
                <a:latin typeface="Times New Roman"/>
                <a:cs typeface="Times New Roman"/>
              </a:rPr>
              <a:t>Collects data from citizens, traffic APIs, social media, public platforms, and simulated IoT sources.</a:t>
            </a:r>
            <a:endParaRPr lang="en-US" sz="2100">
              <a:latin typeface="Times New Roman"/>
            </a:endParaRPr>
          </a:p>
          <a:p>
            <a:pPr marL="50800" indent="0">
              <a:buNone/>
            </a:pPr>
            <a:r>
              <a:rPr lang="en-US" sz="2100" dirty="0">
                <a:latin typeface="Times New Roman"/>
                <a:cs typeface="Times New Roman"/>
              </a:rPr>
              <a:t>Ensures continuous and reliable city-wide data availability for analysis.</a:t>
            </a:r>
            <a:endParaRPr lang="en-US" sz="2100">
              <a:latin typeface="Times New Roman"/>
            </a:endParaRPr>
          </a:p>
          <a:p>
            <a:pPr marL="50800" indent="0">
              <a:buNone/>
            </a:pPr>
            <a:r>
              <a:rPr lang="en-US" sz="2100" b="1" dirty="0">
                <a:latin typeface="Times New Roman"/>
                <a:cs typeface="Times New Roman"/>
              </a:rPr>
              <a:t>2. Data Preprocessing &amp; Normalization Module</a:t>
            </a:r>
            <a:endParaRPr lang="en-US" sz="2100">
              <a:latin typeface="Times New Roman"/>
            </a:endParaRPr>
          </a:p>
          <a:p>
            <a:pPr marL="50800" indent="0">
              <a:buNone/>
            </a:pPr>
            <a:r>
              <a:rPr lang="en-US" sz="2100" dirty="0">
                <a:latin typeface="Times New Roman"/>
                <a:cs typeface="Times New Roman"/>
              </a:rPr>
              <a:t>Cleans, validates, anonymizes, and standardizes incoming data.</a:t>
            </a:r>
            <a:endParaRPr lang="en-US" sz="2100">
              <a:latin typeface="Times New Roman"/>
            </a:endParaRPr>
          </a:p>
          <a:p>
            <a:pPr marL="50800" indent="0">
              <a:buNone/>
            </a:pPr>
            <a:r>
              <a:rPr lang="en-US" sz="2100" dirty="0">
                <a:latin typeface="Times New Roman"/>
                <a:cs typeface="Times New Roman"/>
              </a:rPr>
              <a:t>Prepares structured and unstructured data for AI analysis and decision-making.</a:t>
            </a:r>
            <a:endParaRPr lang="en-US" sz="2100">
              <a:latin typeface="Times New Roman"/>
            </a:endParaRPr>
          </a:p>
          <a:p>
            <a:pPr marL="50800" indent="0">
              <a:buNone/>
            </a:pPr>
            <a:r>
              <a:rPr lang="en-US" sz="2100" b="1" dirty="0">
                <a:latin typeface="Times New Roman"/>
                <a:cs typeface="Times New Roman"/>
              </a:rPr>
              <a:t>3. AI Incident Intelligence Module</a:t>
            </a:r>
            <a:endParaRPr lang="en-US" sz="2100">
              <a:latin typeface="Times New Roman"/>
            </a:endParaRPr>
          </a:p>
          <a:p>
            <a:pPr marL="50800" indent="0">
              <a:buNone/>
            </a:pPr>
            <a:r>
              <a:rPr lang="en-US" sz="2100" dirty="0">
                <a:latin typeface="Times New Roman"/>
                <a:cs typeface="Times New Roman"/>
              </a:rPr>
              <a:t>Uses NLP and LLM-based models to understand issue type, location, and severity.</a:t>
            </a:r>
            <a:endParaRPr lang="en-US" sz="2100">
              <a:latin typeface="Times New Roman"/>
            </a:endParaRPr>
          </a:p>
          <a:p>
            <a:pPr marL="50800" indent="0">
              <a:buNone/>
            </a:pPr>
            <a:r>
              <a:rPr lang="en-US" sz="2100" dirty="0">
                <a:latin typeface="Times New Roman"/>
                <a:cs typeface="Times New Roman"/>
              </a:rPr>
              <a:t>Automatically classifies, prioritizes, and summarizes city incidents.</a:t>
            </a:r>
            <a:endParaRPr lang="en-US" sz="2100">
              <a:latin typeface="Times New Roman"/>
            </a:endParaRPr>
          </a:p>
          <a:p>
            <a:pPr marL="50800" indent="0">
              <a:buNone/>
            </a:pPr>
            <a:r>
              <a:rPr lang="en-US" sz="2100" b="1" dirty="0">
                <a:latin typeface="Times New Roman"/>
                <a:cs typeface="Times New Roman"/>
              </a:rPr>
              <a:t>4. Predictive Analytics &amp; Risk Forecasting Module</a:t>
            </a:r>
            <a:endParaRPr lang="en-US" sz="2100">
              <a:latin typeface="Times New Roman"/>
            </a:endParaRPr>
          </a:p>
          <a:p>
            <a:pPr marL="50800" indent="0">
              <a:buNone/>
            </a:pPr>
            <a:r>
              <a:rPr lang="en-US" sz="2100" dirty="0">
                <a:latin typeface="Times New Roman"/>
                <a:cs typeface="Times New Roman"/>
              </a:rPr>
              <a:t>Analyzes historical and real-time data to identify trends and predict future hotspots.</a:t>
            </a:r>
            <a:endParaRPr lang="en-US" sz="2100">
              <a:latin typeface="Times New Roman"/>
            </a:endParaRPr>
          </a:p>
          <a:p>
            <a:pPr marL="50800" indent="0">
              <a:buNone/>
            </a:pPr>
            <a:r>
              <a:rPr lang="en-US" sz="2100" dirty="0">
                <a:latin typeface="Times New Roman"/>
                <a:cs typeface="Times New Roman"/>
              </a:rPr>
              <a:t>Supports proactive planning and early warning for city administrators.</a:t>
            </a:r>
            <a:endParaRPr lang="en-US" sz="2100">
              <a:latin typeface="Times New Roman"/>
            </a:endParaRPr>
          </a:p>
        </p:txBody>
      </p:sp>
    </p:spTree>
    <p:extLst>
      <p:ext uri="{BB962C8B-B14F-4D97-AF65-F5344CB8AC3E}">
        <p14:creationId xmlns:p14="http://schemas.microsoft.com/office/powerpoint/2010/main" val="4278353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ADC9BDC5-9645-4EC6-5814-CF7276E9EFB6}"/>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F5ECE0D5-F748-1095-B114-EFABAA28C6F3}"/>
              </a:ext>
            </a:extLst>
          </p:cNvPr>
          <p:cNvSpPr txBox="1">
            <a:spLocks noGrp="1"/>
          </p:cNvSpPr>
          <p:nvPr>
            <p:ph type="title"/>
          </p:nvPr>
        </p:nvSpPr>
        <p:spPr>
          <a:xfrm>
            <a:off x="320614" y="84382"/>
            <a:ext cx="7777481" cy="775800"/>
          </a:xfrm>
          <a:prstGeom prst="rect">
            <a:avLst/>
          </a:prstGeom>
          <a:noFill/>
          <a:ln>
            <a:noFill/>
          </a:ln>
        </p:spPr>
        <p:txBody>
          <a:bodyPr spcFirstLastPara="1" wrap="square" lIns="91425" tIns="45700" rIns="91425" bIns="45700" anchor="ctr" anchorCtr="0">
            <a:noAutofit/>
          </a:bodyPr>
          <a:lstStyle/>
          <a:p>
            <a:r>
              <a:rPr lang="en-IN" sz="3600" i="1" dirty="0">
                <a:solidFill>
                  <a:srgbClr val="CC0066"/>
                </a:solidFill>
                <a:latin typeface="Times New Roman"/>
                <a:sym typeface="Times New Roman"/>
              </a:rPr>
              <a:t>List of Modules with Explanation </a:t>
            </a:r>
            <a:endParaRPr lang="en-US" i="1">
              <a:latin typeface="Times New Roman"/>
            </a:endParaRPr>
          </a:p>
        </p:txBody>
      </p:sp>
      <p:sp>
        <p:nvSpPr>
          <p:cNvPr id="2" name="Text Placeholder 1">
            <a:extLst>
              <a:ext uri="{FF2B5EF4-FFF2-40B4-BE49-F238E27FC236}">
                <a16:creationId xmlns:a16="http://schemas.microsoft.com/office/drawing/2014/main" id="{BE8686A5-8BBA-4B1D-00E4-5472BEACF0AE}"/>
              </a:ext>
            </a:extLst>
          </p:cNvPr>
          <p:cNvSpPr>
            <a:spLocks noGrp="1" noChangeArrowheads="1"/>
          </p:cNvSpPr>
          <p:nvPr>
            <p:ph type="body" idx="1"/>
          </p:nvPr>
        </p:nvSpPr>
        <p:spPr bwMode="auto">
          <a:xfrm>
            <a:off x="316282" y="993997"/>
            <a:ext cx="10967717" cy="4608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0800" indent="0">
              <a:buNone/>
            </a:pPr>
            <a:r>
              <a:rPr lang="en-US" sz="2100" b="1" dirty="0">
                <a:cs typeface="Times New Roman"/>
              </a:rPr>
              <a:t>5. Automated Routing &amp; Alert Module</a:t>
            </a:r>
            <a:endParaRPr lang="en-US" b="1" dirty="0"/>
          </a:p>
          <a:p>
            <a:pPr marL="50800" indent="0">
              <a:buNone/>
            </a:pPr>
            <a:r>
              <a:rPr lang="en-US" sz="2100" dirty="0">
                <a:cs typeface="Times New Roman"/>
              </a:rPr>
              <a:t>Assigns incidents to the appropriate government departments using rule-based logic.</a:t>
            </a:r>
            <a:br>
              <a:rPr lang="en-US" sz="2100" dirty="0">
                <a:cs typeface="Times New Roman"/>
              </a:rPr>
            </a:br>
            <a:r>
              <a:rPr lang="en-US" sz="2100" dirty="0">
                <a:cs typeface="Times New Roman"/>
              </a:rPr>
              <a:t>Sends real-time alerts to officials, field officers, and nearby citizens.</a:t>
            </a:r>
            <a:endParaRPr lang="en-US" dirty="0"/>
          </a:p>
          <a:p>
            <a:pPr marL="50800" indent="0">
              <a:buNone/>
            </a:pPr>
            <a:r>
              <a:rPr lang="en-US" sz="2100" b="1" dirty="0">
                <a:cs typeface="Times New Roman"/>
              </a:rPr>
              <a:t>6. Unified Command Dashboard Module</a:t>
            </a:r>
            <a:endParaRPr lang="en-US" b="1" dirty="0"/>
          </a:p>
          <a:p>
            <a:pPr marL="50800" indent="0">
              <a:buNone/>
            </a:pPr>
            <a:r>
              <a:rPr lang="en-US" sz="2100" dirty="0">
                <a:cs typeface="Times New Roman"/>
              </a:rPr>
              <a:t>Provides a live dashboard with maps, alerts, analytics, and resolution tracking.</a:t>
            </a:r>
            <a:br>
              <a:rPr lang="en-US" sz="2100" dirty="0">
                <a:cs typeface="Times New Roman"/>
              </a:rPr>
            </a:br>
            <a:r>
              <a:rPr lang="en-US" sz="2100" dirty="0">
                <a:cs typeface="Times New Roman"/>
              </a:rPr>
              <a:t>Enables centralized monitoring, transparency, and faster decision-making.</a:t>
            </a:r>
            <a:endParaRPr lang="en-US" dirty="0"/>
          </a:p>
          <a:p>
            <a:pPr marL="50800" indent="0">
              <a:buNone/>
            </a:pPr>
            <a:r>
              <a:rPr lang="en-US" sz="2100" b="1" dirty="0">
                <a:cs typeface="Times New Roman"/>
              </a:rPr>
              <a:t>7. Resolution Tracking &amp; Audit Module</a:t>
            </a:r>
            <a:endParaRPr lang="en-US" b="1" dirty="0"/>
          </a:p>
          <a:p>
            <a:pPr marL="50800" indent="0">
              <a:buNone/>
            </a:pPr>
            <a:r>
              <a:rPr lang="en-US" sz="2100" dirty="0">
                <a:cs typeface="Times New Roman"/>
              </a:rPr>
              <a:t>Tracks incident status from report to resolution.</a:t>
            </a:r>
            <a:br>
              <a:rPr lang="en-US" sz="2100" dirty="0">
                <a:cs typeface="Times New Roman"/>
              </a:rPr>
            </a:br>
            <a:r>
              <a:rPr lang="en-US" sz="2100" dirty="0">
                <a:cs typeface="Times New Roman"/>
              </a:rPr>
              <a:t>Maintains logs, response metrics, and audit records for governance evaluation.</a:t>
            </a:r>
            <a:endParaRPr lang="en-US" dirty="0"/>
          </a:p>
          <a:p>
            <a:pPr marL="50800" indent="0">
              <a:buNone/>
            </a:pPr>
            <a:r>
              <a:rPr lang="en-US" sz="2100" b="1" dirty="0">
                <a:cs typeface="Times New Roman"/>
              </a:rPr>
              <a:t>8. User Interaction &amp; Notification Module</a:t>
            </a:r>
            <a:endParaRPr lang="en-US" b="1" dirty="0"/>
          </a:p>
          <a:p>
            <a:pPr marL="50800" indent="0">
              <a:buNone/>
            </a:pPr>
            <a:r>
              <a:rPr lang="en-US" sz="2100" dirty="0">
                <a:cs typeface="Times New Roman"/>
              </a:rPr>
              <a:t>Allows citizens to report issues and receive real-time updates.</a:t>
            </a:r>
            <a:br>
              <a:rPr lang="en-US" sz="2100" dirty="0">
                <a:cs typeface="Times New Roman"/>
              </a:rPr>
            </a:br>
            <a:r>
              <a:rPr lang="en-US" sz="2100" dirty="0">
                <a:cs typeface="Times New Roman"/>
              </a:rPr>
              <a:t>Improves public engagement and trust through transparent communication.</a:t>
            </a:r>
            <a:endParaRPr lang="en-US" dirty="0"/>
          </a:p>
        </p:txBody>
      </p:sp>
    </p:spTree>
    <p:extLst>
      <p:ext uri="{BB962C8B-B14F-4D97-AF65-F5344CB8AC3E}">
        <p14:creationId xmlns:p14="http://schemas.microsoft.com/office/powerpoint/2010/main" val="1198582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90">
          <a:extLst>
            <a:ext uri="{FF2B5EF4-FFF2-40B4-BE49-F238E27FC236}">
              <a16:creationId xmlns:a16="http://schemas.microsoft.com/office/drawing/2014/main" id="{EC92CD74-48EC-0BFA-5656-0A6D36083B0A}"/>
            </a:ext>
          </a:extLst>
        </p:cNvPr>
        <p:cNvGrpSpPr/>
        <p:nvPr/>
      </p:nvGrpSpPr>
      <p:grpSpPr>
        <a:xfrm>
          <a:off x="0" y="0"/>
          <a:ext cx="0" cy="0"/>
          <a:chOff x="0" y="0"/>
          <a:chExt cx="0" cy="0"/>
        </a:xfrm>
      </p:grpSpPr>
      <p:sp>
        <p:nvSpPr>
          <p:cNvPr id="1091" name="Google Shape;1091;p55">
            <a:extLst>
              <a:ext uri="{FF2B5EF4-FFF2-40B4-BE49-F238E27FC236}">
                <a16:creationId xmlns:a16="http://schemas.microsoft.com/office/drawing/2014/main" id="{EAE818C1-ECEE-4141-F59C-94B037482478}"/>
              </a:ext>
            </a:extLst>
          </p:cNvPr>
          <p:cNvSpPr txBox="1">
            <a:spLocks noGrp="1"/>
          </p:cNvSpPr>
          <p:nvPr>
            <p:ph type="title"/>
          </p:nvPr>
        </p:nvSpPr>
        <p:spPr>
          <a:xfrm>
            <a:off x="320614" y="84382"/>
            <a:ext cx="7777481" cy="775800"/>
          </a:xfrm>
          <a:prstGeom prst="rect">
            <a:avLst/>
          </a:prstGeom>
          <a:noFill/>
          <a:ln>
            <a:noFill/>
          </a:ln>
        </p:spPr>
        <p:txBody>
          <a:bodyPr spcFirstLastPara="1" wrap="square" lIns="91425" tIns="45700" rIns="91425" bIns="45700" anchor="ctr" anchorCtr="0">
            <a:noAutofit/>
          </a:bodyPr>
          <a:lstStyle/>
          <a:p>
            <a:r>
              <a:rPr lang="en-IN" sz="3600" i="1">
                <a:solidFill>
                  <a:srgbClr val="CC0066"/>
                </a:solidFill>
                <a:latin typeface="Times New Roman"/>
                <a:sym typeface="Times New Roman"/>
              </a:rPr>
              <a:t>List of Reports with Purpose </a:t>
            </a:r>
            <a:endParaRPr lang="en-US" i="1">
              <a:latin typeface="Times New Roman"/>
            </a:endParaRPr>
          </a:p>
        </p:txBody>
      </p:sp>
      <p:graphicFrame>
        <p:nvGraphicFramePr>
          <p:cNvPr id="4" name="Table 3">
            <a:extLst>
              <a:ext uri="{FF2B5EF4-FFF2-40B4-BE49-F238E27FC236}">
                <a16:creationId xmlns:a16="http://schemas.microsoft.com/office/drawing/2014/main" id="{349B7278-BA48-EE78-2417-880B8C185818}"/>
              </a:ext>
            </a:extLst>
          </p:cNvPr>
          <p:cNvGraphicFramePr>
            <a:graphicFrameLocks noGrp="1"/>
          </p:cNvGraphicFramePr>
          <p:nvPr>
            <p:extLst>
              <p:ext uri="{D42A27DB-BD31-4B8C-83A1-F6EECF244321}">
                <p14:modId xmlns:p14="http://schemas.microsoft.com/office/powerpoint/2010/main" val="1449359231"/>
              </p:ext>
            </p:extLst>
          </p:nvPr>
        </p:nvGraphicFramePr>
        <p:xfrm>
          <a:off x="448849" y="845506"/>
          <a:ext cx="11295104" cy="4930222"/>
        </p:xfrm>
        <a:graphic>
          <a:graphicData uri="http://schemas.openxmlformats.org/drawingml/2006/table">
            <a:tbl>
              <a:tblPr bandRow="1">
                <a:tableStyleId>{B229F12B-DD2F-434A-8BDD-88915C9BCD54}</a:tableStyleId>
              </a:tblPr>
              <a:tblGrid>
                <a:gridCol w="5647552">
                  <a:extLst>
                    <a:ext uri="{9D8B030D-6E8A-4147-A177-3AD203B41FA5}">
                      <a16:colId xmlns:a16="http://schemas.microsoft.com/office/drawing/2014/main" val="1389231426"/>
                    </a:ext>
                  </a:extLst>
                </a:gridCol>
                <a:gridCol w="5647552">
                  <a:extLst>
                    <a:ext uri="{9D8B030D-6E8A-4147-A177-3AD203B41FA5}">
                      <a16:colId xmlns:a16="http://schemas.microsoft.com/office/drawing/2014/main" val="3850894254"/>
                    </a:ext>
                  </a:extLst>
                </a:gridCol>
              </a:tblGrid>
              <a:tr h="592704">
                <a:tc>
                  <a:txBody>
                    <a:bodyPr/>
                    <a:lstStyle/>
                    <a:p>
                      <a:pPr algn="l" rtl="0">
                        <a:buNone/>
                      </a:pPr>
                      <a:r>
                        <a:rPr lang="en-US" b="1" i="0">
                          <a:solidFill>
                            <a:srgbClr val="000000"/>
                          </a:solidFill>
                          <a:effectLst/>
                        </a:rPr>
                        <a:t>Report Name</a:t>
                      </a:r>
                      <a:endParaRPr lang="en-US">
                        <a:effectLst/>
                      </a:endParaRP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lgn="l" rtl="0">
                        <a:buNone/>
                      </a:pPr>
                      <a:r>
                        <a:rPr lang="en-US" b="1" i="0">
                          <a:solidFill>
                            <a:srgbClr val="000000"/>
                          </a:solidFill>
                          <a:effectLst/>
                        </a:rPr>
                        <a:t>Purpose</a:t>
                      </a:r>
                      <a:endParaRPr lang="en-US">
                        <a:effectLst/>
                      </a:endParaRP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2673389850"/>
                  </a:ext>
                </a:extLst>
              </a:tr>
              <a:tr h="417587">
                <a:tc>
                  <a:txBody>
                    <a:bodyPr/>
                    <a:lstStyle/>
                    <a:p>
                      <a:pPr>
                        <a:buNone/>
                      </a:pPr>
                      <a:r>
                        <a:rPr lang="en-US" b="1">
                          <a:effectLst/>
                        </a:rPr>
                        <a:t>Active Incidents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Displays all currently reported city incidents with status and severity.</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700851083"/>
                  </a:ext>
                </a:extLst>
              </a:tr>
              <a:tr h="417587">
                <a:tc>
                  <a:txBody>
                    <a:bodyPr/>
                    <a:lstStyle/>
                    <a:p>
                      <a:pPr>
                        <a:buNone/>
                      </a:pPr>
                      <a:r>
                        <a:rPr lang="en-US" b="1">
                          <a:effectLst/>
                        </a:rPr>
                        <a:t>Incident Type Distribution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Shows frequency of different issue types (traffic, potholes, accidents, etc.).</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680323873"/>
                  </a:ext>
                </a:extLst>
              </a:tr>
              <a:tr h="417587">
                <a:tc>
                  <a:txBody>
                    <a:bodyPr/>
                    <a:lstStyle/>
                    <a:p>
                      <a:pPr>
                        <a:buNone/>
                      </a:pPr>
                      <a:r>
                        <a:rPr lang="en-US" b="1">
                          <a:effectLst/>
                        </a:rPr>
                        <a:t>Severity &amp; Priority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lgn="l" rtl="0">
                        <a:buNone/>
                      </a:pPr>
                      <a:r>
                        <a:rPr lang="en-US" b="0" i="0">
                          <a:solidFill>
                            <a:srgbClr val="000000"/>
                          </a:solidFill>
                          <a:effectLst/>
                        </a:rPr>
                        <a:t>Highlights high-priority and critical incidents requiring immediate action.</a:t>
                      </a:r>
                      <a:endParaRPr lang="en-US">
                        <a:effectLst/>
                      </a:endParaRP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1781093085"/>
                  </a:ext>
                </a:extLst>
              </a:tr>
              <a:tr h="498411">
                <a:tc>
                  <a:txBody>
                    <a:bodyPr/>
                    <a:lstStyle/>
                    <a:p>
                      <a:pPr>
                        <a:buNone/>
                      </a:pPr>
                      <a:r>
                        <a:rPr lang="en-US" b="1">
                          <a:effectLst/>
                        </a:rPr>
                        <a:t>Department Workload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Tracks number of incidents assigned to each government department.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2462917527"/>
                  </a:ext>
                </a:extLst>
              </a:tr>
              <a:tr h="417587">
                <a:tc>
                  <a:txBody>
                    <a:bodyPr/>
                    <a:lstStyle/>
                    <a:p>
                      <a:pPr>
                        <a:buNone/>
                      </a:pPr>
                      <a:r>
                        <a:rPr lang="en-US" b="1">
                          <a:effectLst/>
                        </a:rPr>
                        <a:t>Response Time Analysis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Measures average response and resolution time for incidents.</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3007974838"/>
                  </a:ext>
                </a:extLst>
              </a:tr>
              <a:tr h="417587">
                <a:tc>
                  <a:txBody>
                    <a:bodyPr/>
                    <a:lstStyle/>
                    <a:p>
                      <a:pPr>
                        <a:buNone/>
                      </a:pPr>
                      <a:r>
                        <a:rPr lang="en-US" b="1">
                          <a:effectLst/>
                        </a:rPr>
                        <a:t>Incident Hotspot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lgn="l" rtl="0">
                        <a:buNone/>
                      </a:pPr>
                      <a:r>
                        <a:rPr lang="en-US" b="0" i="0">
                          <a:solidFill>
                            <a:srgbClr val="000000"/>
                          </a:solidFill>
                          <a:effectLst/>
                        </a:rPr>
                        <a:t>Identifies geographical zones with high incident concentration.</a:t>
                      </a:r>
                      <a:endParaRPr lang="en-US">
                        <a:effectLst/>
                      </a:endParaRP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636776947"/>
                  </a:ext>
                </a:extLst>
              </a:tr>
              <a:tr h="417587">
                <a:tc>
                  <a:txBody>
                    <a:bodyPr/>
                    <a:lstStyle/>
                    <a:p>
                      <a:pPr>
                        <a:buNone/>
                      </a:pPr>
                      <a:r>
                        <a:rPr lang="en-US" b="1">
                          <a:effectLst/>
                        </a:rPr>
                        <a:t>Trend &amp; Pattern Analysis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Shows historical trends and recurring urban problems over time.</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3591016357"/>
                  </a:ext>
                </a:extLst>
              </a:tr>
              <a:tr h="498411">
                <a:tc>
                  <a:txBody>
                    <a:bodyPr/>
                    <a:lstStyle/>
                    <a:p>
                      <a:pPr>
                        <a:buNone/>
                      </a:pPr>
                      <a:r>
                        <a:rPr lang="en-US" b="1">
                          <a:effectLst/>
                        </a:rPr>
                        <a:t>Predictive Risk Forecast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Predicts potential future hotspots and risk-prone zones using AI models.</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3032798771"/>
                  </a:ext>
                </a:extLst>
              </a:tr>
              <a:tr h="417587">
                <a:tc>
                  <a:txBody>
                    <a:bodyPr/>
                    <a:lstStyle/>
                    <a:p>
                      <a:pPr>
                        <a:buNone/>
                      </a:pPr>
                      <a:r>
                        <a:rPr lang="en-US" b="1">
                          <a:effectLst/>
                        </a:rPr>
                        <a:t>Citizen Complaint Status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buNone/>
                      </a:pPr>
                      <a:r>
                        <a:rPr lang="en-US">
                          <a:effectLst/>
                        </a:rPr>
                        <a:t>Tracks complaint acknowledgment, progress, and resolution updates</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1835431376"/>
                  </a:ext>
                </a:extLst>
              </a:tr>
              <a:tr h="417587">
                <a:tc>
                  <a:txBody>
                    <a:bodyPr/>
                    <a:lstStyle/>
                    <a:p>
                      <a:pPr>
                        <a:buNone/>
                      </a:pPr>
                      <a:r>
                        <a:rPr lang="en-US" b="1">
                          <a:effectLst/>
                        </a:rPr>
                        <a:t>Audit &amp; Resolution Report</a:t>
                      </a: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tc>
                  <a:txBody>
                    <a:bodyPr/>
                    <a:lstStyle/>
                    <a:p>
                      <a:pPr algn="l" rtl="0">
                        <a:buNone/>
                      </a:pPr>
                      <a:r>
                        <a:rPr lang="en-US" b="0" i="0">
                          <a:solidFill>
                            <a:srgbClr val="000000"/>
                          </a:solidFill>
                          <a:effectLst/>
                        </a:rPr>
                        <a:t>Maintains logs of actions taken, closures, and accountability tracking.</a:t>
                      </a:r>
                      <a:endParaRPr lang="en-US">
                        <a:effectLst/>
                      </a:endParaRPr>
                    </a:p>
                  </a:txBody>
                  <a:tcPr anchor="ctr">
                    <a:lnL w="9525" cap="flat" cmpd="sng" algn="ctr">
                      <a:solidFill>
                        <a:srgbClr val="B6114D"/>
                      </a:solidFill>
                      <a:prstDash val="solid"/>
                      <a:round/>
                      <a:headEnd type="none" w="med" len="med"/>
                      <a:tailEnd type="none" w="med" len="med"/>
                    </a:lnL>
                    <a:lnR w="9525" cap="flat" cmpd="sng" algn="ctr">
                      <a:solidFill>
                        <a:srgbClr val="B6114D"/>
                      </a:solidFill>
                      <a:prstDash val="solid"/>
                      <a:round/>
                      <a:headEnd type="none" w="med" len="med"/>
                      <a:tailEnd type="none" w="med" len="med"/>
                    </a:lnR>
                    <a:lnT w="9525" cap="flat" cmpd="sng" algn="ctr">
                      <a:solidFill>
                        <a:srgbClr val="B6114D"/>
                      </a:solidFill>
                      <a:prstDash val="solid"/>
                      <a:round/>
                      <a:headEnd type="none" w="med" len="med"/>
                      <a:tailEnd type="none" w="med" len="med"/>
                    </a:lnT>
                    <a:lnB w="9525" cap="flat" cmpd="sng" algn="ctr">
                      <a:solidFill>
                        <a:srgbClr val="B6114D"/>
                      </a:solidFill>
                      <a:prstDash val="solid"/>
                      <a:round/>
                      <a:headEnd type="none" w="med" len="med"/>
                      <a:tailEnd type="none" w="med" len="med"/>
                    </a:lnB>
                    <a:solidFill>
                      <a:srgbClr val="FFFFFF"/>
                    </a:solidFill>
                  </a:tcPr>
                </a:tc>
                <a:extLst>
                  <a:ext uri="{0D108BD9-81ED-4DB2-BD59-A6C34878D82A}">
                    <a16:rowId xmlns:a16="http://schemas.microsoft.com/office/drawing/2014/main" val="213215390"/>
                  </a:ext>
                </a:extLst>
              </a:tr>
            </a:tbl>
          </a:graphicData>
        </a:graphic>
      </p:graphicFrame>
    </p:spTree>
    <p:extLst>
      <p:ext uri="{BB962C8B-B14F-4D97-AF65-F5344CB8AC3E}">
        <p14:creationId xmlns:p14="http://schemas.microsoft.com/office/powerpoint/2010/main" val="1939006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6D63-9B53-37F3-CC3C-9E2BC7F51285}"/>
              </a:ext>
            </a:extLst>
          </p:cNvPr>
          <p:cNvSpPr>
            <a:spLocks noGrp="1"/>
          </p:cNvSpPr>
          <p:nvPr>
            <p:ph type="ctrTitle"/>
          </p:nvPr>
        </p:nvSpPr>
        <p:spPr>
          <a:xfrm>
            <a:off x="1438275" y="198438"/>
            <a:ext cx="9144000" cy="663675"/>
          </a:xfrm>
        </p:spPr>
        <p:txBody>
          <a:bodyPr/>
          <a:lstStyle/>
          <a:p>
            <a:r>
              <a:rPr lang="en-IN" sz="3600" i="1" dirty="0">
                <a:solidFill>
                  <a:srgbClr val="CC0066"/>
                </a:solidFill>
                <a:latin typeface="Times New Roman"/>
                <a:cs typeface="Times New Roman"/>
              </a:rPr>
              <a:t>List of  forms for the application</a:t>
            </a:r>
            <a:endParaRPr lang="en-US" dirty="0"/>
          </a:p>
        </p:txBody>
      </p:sp>
      <p:sp>
        <p:nvSpPr>
          <p:cNvPr id="3" name="Subtitle 2">
            <a:extLst>
              <a:ext uri="{FF2B5EF4-FFF2-40B4-BE49-F238E27FC236}">
                <a16:creationId xmlns:a16="http://schemas.microsoft.com/office/drawing/2014/main" id="{60BEFCA5-F704-71C8-FDCD-79B4D1E7FD0A}"/>
              </a:ext>
            </a:extLst>
          </p:cNvPr>
          <p:cNvSpPr>
            <a:spLocks noGrp="1"/>
          </p:cNvSpPr>
          <p:nvPr>
            <p:ph type="subTitle" idx="1"/>
          </p:nvPr>
        </p:nvSpPr>
        <p:spPr>
          <a:xfrm>
            <a:off x="9525" y="963613"/>
            <a:ext cx="12182475" cy="5094225"/>
          </a:xfrm>
        </p:spPr>
        <p:txBody>
          <a:bodyPr>
            <a:normAutofit/>
          </a:bodyPr>
          <a:lstStyle/>
          <a:p>
            <a:pPr algn="l"/>
            <a:r>
              <a:rPr lang="en-US" sz="1500" b="1" dirty="0"/>
              <a:t>1. Incident Reporting Form</a:t>
            </a:r>
            <a:endParaRPr lang="en-US" sz="1500" dirty="0"/>
          </a:p>
          <a:p>
            <a:pPr algn="l"/>
            <a:r>
              <a:rPr lang="en-US" sz="1500" dirty="0"/>
              <a:t>Allows citizens to report urban issues like potholes, accidents, or flooding with location and media evidence. This acts as the primary data entry point for the system.</a:t>
            </a:r>
          </a:p>
          <a:p>
            <a:pPr algn="l"/>
            <a:r>
              <a:rPr lang="en-US" sz="1500" b="1" dirty="0"/>
              <a:t>2. Citizen Registration Form</a:t>
            </a:r>
            <a:endParaRPr lang="en-US" sz="1500" dirty="0"/>
          </a:p>
          <a:p>
            <a:pPr algn="l"/>
            <a:r>
              <a:rPr lang="en-US" sz="1500" dirty="0"/>
              <a:t>Collects basic user details to enable complaint tracking and notifications. Ensures authenticated and reliable citizen participation.</a:t>
            </a:r>
          </a:p>
          <a:p>
            <a:pPr algn="l"/>
            <a:r>
              <a:rPr lang="en-US" sz="1500" b="1" dirty="0"/>
              <a:t>3. Complaint Status Tracking Form</a:t>
            </a:r>
            <a:endParaRPr lang="en-US" sz="1500" dirty="0"/>
          </a:p>
          <a:p>
            <a:pPr algn="l"/>
            <a:r>
              <a:rPr lang="en-US" sz="1500" dirty="0"/>
              <a:t>Enables citizens to track the progress of their reported incidents. Displays current status, assigned department, and resolution updates.</a:t>
            </a:r>
          </a:p>
          <a:p>
            <a:pPr algn="l"/>
            <a:r>
              <a:rPr lang="en-US" sz="1500" b="1" dirty="0"/>
              <a:t>4. Incident Verification Form</a:t>
            </a:r>
            <a:endParaRPr lang="en-US" sz="1500" dirty="0"/>
          </a:p>
          <a:p>
            <a:pPr algn="l"/>
            <a:r>
              <a:rPr lang="en-US" sz="1500" dirty="0"/>
              <a:t>Used by administrators to validate incidents detected by AI or citizens. Helps filter false reports and update severity levels.</a:t>
            </a:r>
          </a:p>
          <a:p>
            <a:pPr algn="l"/>
            <a:r>
              <a:rPr lang="en-US" sz="1500" b="1" dirty="0"/>
              <a:t>5. Incident Assignment Form</a:t>
            </a:r>
            <a:endParaRPr lang="en-US" sz="1500" dirty="0"/>
          </a:p>
          <a:p>
            <a:pPr algn="l"/>
            <a:r>
              <a:rPr lang="en-US" sz="1500" dirty="0"/>
              <a:t>Assigns verified incidents to the appropriate government department or field team. Ensures timely routing based on priority and location.</a:t>
            </a:r>
          </a:p>
          <a:p>
            <a:pPr algn="l"/>
            <a:r>
              <a:rPr lang="en-US" sz="1500" b="1" dirty="0"/>
              <a:t>6. Resolution Update Form</a:t>
            </a:r>
            <a:endParaRPr lang="en-US" sz="1500" dirty="0"/>
          </a:p>
          <a:p>
            <a:pPr algn="l"/>
            <a:r>
              <a:rPr lang="en-US" sz="1500" dirty="0"/>
              <a:t>Allows field officers to update action status and upload proof of resolution. Ensures transparency and accountability in issue handling.</a:t>
            </a:r>
          </a:p>
          <a:p>
            <a:pPr algn="l"/>
            <a:endParaRPr lang="en-US" dirty="0"/>
          </a:p>
          <a:p>
            <a:endParaRPr lang="en-US" dirty="0"/>
          </a:p>
        </p:txBody>
      </p:sp>
    </p:spTree>
    <p:extLst>
      <p:ext uri="{BB962C8B-B14F-4D97-AF65-F5344CB8AC3E}">
        <p14:creationId xmlns:p14="http://schemas.microsoft.com/office/powerpoint/2010/main" val="327397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6658036-B5F1-A70B-9822-1B240066469B}"/>
              </a:ext>
            </a:extLst>
          </p:cNvPr>
          <p:cNvSpPr>
            <a:spLocks noGrp="1"/>
          </p:cNvSpPr>
          <p:nvPr>
            <p:ph type="subTitle" idx="1"/>
          </p:nvPr>
        </p:nvSpPr>
        <p:spPr>
          <a:xfrm>
            <a:off x="0" y="1588"/>
            <a:ext cx="12192000" cy="6103875"/>
          </a:xfrm>
        </p:spPr>
        <p:txBody>
          <a:bodyPr>
            <a:normAutofit fontScale="92500" lnSpcReduction="20000"/>
          </a:bodyPr>
          <a:lstStyle/>
          <a:p>
            <a:pPr algn="l"/>
            <a:r>
              <a:rPr lang="en-US" b="1" dirty="0"/>
              <a:t>7. Department Workload Form</a:t>
            </a:r>
            <a:endParaRPr lang="en-US"/>
          </a:p>
          <a:p>
            <a:pPr algn="l"/>
            <a:r>
              <a:rPr lang="en-US" dirty="0"/>
              <a:t>Helps department heads monitor assigned incidents and staff workload. Supports efficient resource allocation and reassignment.</a:t>
            </a:r>
          </a:p>
          <a:p>
            <a:pPr algn="l"/>
            <a:r>
              <a:rPr lang="en-US" b="1" dirty="0"/>
              <a:t>8. Report Generation Form</a:t>
            </a:r>
            <a:endParaRPr lang="en-US"/>
          </a:p>
          <a:p>
            <a:pPr algn="l"/>
            <a:r>
              <a:rPr lang="en-US" dirty="0"/>
              <a:t>Used to generate analytical reports based on filters like time, location, and incident type. Supports data-driven decision making.</a:t>
            </a:r>
          </a:p>
          <a:p>
            <a:pPr algn="l"/>
            <a:r>
              <a:rPr lang="en-US" b="1" dirty="0"/>
              <a:t>9. Hotspot Analysis Form</a:t>
            </a:r>
            <a:endParaRPr lang="en-US"/>
          </a:p>
          <a:p>
            <a:pPr algn="l"/>
            <a:r>
              <a:rPr lang="en-US" dirty="0"/>
              <a:t>Configures inputs to identify areas with high incident concentration. Helps authorities focus on high-risk zones.</a:t>
            </a:r>
          </a:p>
          <a:p>
            <a:pPr algn="l"/>
            <a:r>
              <a:rPr lang="en-US" b="1" dirty="0"/>
              <a:t>10. Predictive Risk Configuration Form</a:t>
            </a:r>
            <a:endParaRPr lang="en-US"/>
          </a:p>
          <a:p>
            <a:pPr algn="l"/>
            <a:r>
              <a:rPr lang="en-US" dirty="0"/>
              <a:t>Defines parameters for AI-based future risk prediction. Supports proactive urban planning and prevention.</a:t>
            </a:r>
          </a:p>
          <a:p>
            <a:pPr algn="l"/>
            <a:r>
              <a:rPr lang="en-US" b="1" dirty="0"/>
              <a:t>11. Alert Configuration Form</a:t>
            </a:r>
            <a:endParaRPr lang="en-US"/>
          </a:p>
          <a:p>
            <a:pPr algn="l"/>
            <a:r>
              <a:rPr lang="en-US" dirty="0"/>
              <a:t>Sets rules for sending alerts to officials and citizens. Ensures timely communication during critical situations.</a:t>
            </a:r>
          </a:p>
          <a:p>
            <a:pPr algn="l"/>
            <a:r>
              <a:rPr lang="en-US" b="1" dirty="0"/>
              <a:t>12. Feedback &amp; Rating Form</a:t>
            </a:r>
            <a:endParaRPr lang="en-US"/>
          </a:p>
          <a:p>
            <a:pPr algn="l"/>
            <a:r>
              <a:rPr lang="en-US" dirty="0"/>
              <a:t>Allows citizens to provide feedback after issue resolution. Helps measure service quality and improve governance.</a:t>
            </a:r>
          </a:p>
          <a:p>
            <a:endParaRPr lang="en-US" dirty="0"/>
          </a:p>
        </p:txBody>
      </p:sp>
    </p:spTree>
    <p:extLst>
      <p:ext uri="{BB962C8B-B14F-4D97-AF65-F5344CB8AC3E}">
        <p14:creationId xmlns:p14="http://schemas.microsoft.com/office/powerpoint/2010/main" val="577975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C3E96-CB82-E814-CA85-746DDFB3A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C6A33-2E06-B4F5-663A-97236685195B}"/>
              </a:ext>
            </a:extLst>
          </p:cNvPr>
          <p:cNvSpPr>
            <a:spLocks noGrp="1"/>
          </p:cNvSpPr>
          <p:nvPr>
            <p:ph type="ctrTitle"/>
          </p:nvPr>
        </p:nvSpPr>
        <p:spPr>
          <a:xfrm>
            <a:off x="1438275" y="198438"/>
            <a:ext cx="9144000" cy="663675"/>
          </a:xfrm>
        </p:spPr>
        <p:txBody>
          <a:bodyPr/>
          <a:lstStyle/>
          <a:p>
            <a:r>
              <a:rPr lang="en-IN" sz="3600" i="1">
                <a:solidFill>
                  <a:srgbClr val="CC0066"/>
                </a:solidFill>
                <a:latin typeface="Times New Roman"/>
                <a:cs typeface="Times New Roman"/>
              </a:rPr>
              <a:t>List of Tables for the application</a:t>
            </a:r>
            <a:endParaRPr lang="en-US"/>
          </a:p>
        </p:txBody>
      </p:sp>
      <p:sp>
        <p:nvSpPr>
          <p:cNvPr id="3" name="Subtitle 2">
            <a:extLst>
              <a:ext uri="{FF2B5EF4-FFF2-40B4-BE49-F238E27FC236}">
                <a16:creationId xmlns:a16="http://schemas.microsoft.com/office/drawing/2014/main" id="{BA239051-72C7-5C0D-8A57-B969C2B0832A}"/>
              </a:ext>
            </a:extLst>
          </p:cNvPr>
          <p:cNvSpPr>
            <a:spLocks noGrp="1"/>
          </p:cNvSpPr>
          <p:nvPr>
            <p:ph type="subTitle" idx="1"/>
          </p:nvPr>
        </p:nvSpPr>
        <p:spPr>
          <a:xfrm>
            <a:off x="9525" y="963613"/>
            <a:ext cx="12182475" cy="5094225"/>
          </a:xfrm>
        </p:spPr>
        <p:txBody>
          <a:bodyPr>
            <a:normAutofit/>
          </a:bodyPr>
          <a:lstStyle/>
          <a:p>
            <a:pPr marL="285750" indent="-285750" algn="l">
              <a:buChar char="•"/>
            </a:pPr>
            <a:r>
              <a:rPr lang="en-US" sz="1500" b="1"/>
              <a:t>Table 1: Multi-Source Data Acquisition Module Specification</a:t>
            </a:r>
            <a:br>
              <a:rPr lang="en-US" sz="1500" b="1" dirty="0"/>
            </a:br>
            <a:r>
              <a:rPr lang="en-US" sz="1500" b="1"/>
              <a:t> Describes the data sources, ingestion mechanisms, and inputs used to collect city-wide information.</a:t>
            </a:r>
            <a:endParaRPr lang="en-US" b="1"/>
          </a:p>
          <a:p>
            <a:pPr marL="285750" indent="-285750" algn="l">
              <a:buChar char="•"/>
            </a:pPr>
            <a:r>
              <a:rPr lang="en-US" sz="1500" b="1"/>
              <a:t>Table 2: Data Preprocessing and Normalization Module Specification</a:t>
            </a:r>
            <a:br>
              <a:rPr lang="en-US" sz="1500" b="1" dirty="0"/>
            </a:br>
            <a:r>
              <a:rPr lang="en-US" sz="1500" b="1"/>
              <a:t> Details the data cleaning, validation, anonymization, and standardization processes.</a:t>
            </a:r>
            <a:endParaRPr lang="en-US" b="1"/>
          </a:p>
          <a:p>
            <a:pPr marL="285750" indent="-285750" algn="l">
              <a:buChar char="•"/>
            </a:pPr>
            <a:r>
              <a:rPr lang="en-US" sz="1500" b="1"/>
              <a:t>Table 3: AI-Based Incident Intelligence Module Specification</a:t>
            </a:r>
            <a:br>
              <a:rPr lang="en-US" sz="1500" b="1" dirty="0"/>
            </a:br>
            <a:r>
              <a:rPr lang="en-US" sz="1500" b="1"/>
              <a:t> Explains the AI techniques used for incident classification, prioritization, and summarization.</a:t>
            </a:r>
            <a:endParaRPr lang="en-US" b="1"/>
          </a:p>
          <a:p>
            <a:pPr marL="285750" indent="-285750" algn="l">
              <a:buChar char="•"/>
            </a:pPr>
            <a:r>
              <a:rPr lang="en-US" sz="1500" b="1"/>
              <a:t>Table 4: Predictive Analytics and Risk Forecasting Module Specification</a:t>
            </a:r>
            <a:br>
              <a:rPr lang="en-US" sz="1500" b="1" dirty="0"/>
            </a:br>
            <a:r>
              <a:rPr lang="en-US" sz="1500" b="1"/>
              <a:t> Presents methods used to analyze trends and predict future incident hotspots.</a:t>
            </a:r>
            <a:endParaRPr lang="en-US" b="1"/>
          </a:p>
          <a:p>
            <a:pPr marL="285750" indent="-285750" algn="l">
              <a:buChar char="•"/>
            </a:pPr>
            <a:r>
              <a:rPr lang="en-US" sz="1500" b="1"/>
              <a:t>Table 5: Automated Incident Routing and Alert Management Module Specification</a:t>
            </a:r>
            <a:br>
              <a:rPr lang="en-US" sz="1500" b="1" dirty="0"/>
            </a:br>
            <a:r>
              <a:rPr lang="en-US" sz="1500" b="1"/>
              <a:t> Describes the logic used to assign incidents to departments and generate real-time alerts.</a:t>
            </a:r>
            <a:endParaRPr lang="en-US" b="1"/>
          </a:p>
          <a:p>
            <a:pPr marL="285750" indent="-285750" algn="l">
              <a:buChar char="•"/>
            </a:pPr>
            <a:r>
              <a:rPr lang="en-US" sz="1500" b="1"/>
              <a:t>Table 6: Unified Command and Monitoring Dashboard Module Specification</a:t>
            </a:r>
            <a:br>
              <a:rPr lang="en-US" sz="1500" b="1" dirty="0"/>
            </a:br>
            <a:r>
              <a:rPr lang="en-US" sz="1500" b="1"/>
              <a:t> Outlines the dashboard features, visualizations, and real-time monitoring capabilities.</a:t>
            </a:r>
            <a:endParaRPr lang="en-US"/>
          </a:p>
          <a:p>
            <a:pPr marL="285750" indent="-285750" algn="l">
              <a:buChar char="•"/>
            </a:pPr>
            <a:r>
              <a:rPr lang="en-US" sz="1500" b="1" dirty="0"/>
              <a:t>Table 7: Incident Resolution Tracking and Audit Management Module Specification</a:t>
            </a:r>
            <a:br>
              <a:rPr lang="en-US" sz="1500" b="1" dirty="0"/>
            </a:br>
            <a:r>
              <a:rPr lang="en-US" sz="1500" b="1" dirty="0"/>
              <a:t> Details how incident status, response metrics, and audit logs are maintained.</a:t>
            </a:r>
            <a:endParaRPr lang="en-US" b="1" dirty="0"/>
          </a:p>
          <a:p>
            <a:pPr marL="285750" indent="-285750" algn="l">
              <a:buChar char="•"/>
            </a:pPr>
            <a:r>
              <a:rPr lang="en-US" sz="1500" b="1"/>
              <a:t>Table 8: User Interaction and Notification Management Module Specification</a:t>
            </a:r>
            <a:br>
              <a:rPr lang="en-US" sz="1500" b="1" dirty="0"/>
            </a:br>
            <a:r>
              <a:rPr lang="en-US" sz="1500" b="1"/>
              <a:t> Explains user engagement features and notification mechanisms for transparency and communication.</a:t>
            </a:r>
            <a:endParaRPr lang="en-US" b="1"/>
          </a:p>
          <a:p>
            <a:pPr algn="l"/>
            <a:endParaRPr lang="en-US" sz="1500" b="1" dirty="0"/>
          </a:p>
        </p:txBody>
      </p:sp>
    </p:spTree>
    <p:extLst>
      <p:ext uri="{BB962C8B-B14F-4D97-AF65-F5344CB8AC3E}">
        <p14:creationId xmlns:p14="http://schemas.microsoft.com/office/powerpoint/2010/main" val="4126289113"/>
      </p:ext>
    </p:extLst>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3376fa5-4a30-4501-8feb-46da47a51c8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1E53E6EEA5B4546A8CC8BC534EFB692" ma:contentTypeVersion="10" ma:contentTypeDescription="Create a new document." ma:contentTypeScope="" ma:versionID="457aeeb4c0aef8e94ed9d1f8ace07806">
  <xsd:schema xmlns:xsd="http://www.w3.org/2001/XMLSchema" xmlns:xs="http://www.w3.org/2001/XMLSchema" xmlns:p="http://schemas.microsoft.com/office/2006/metadata/properties" xmlns:ns3="33376fa5-4a30-4501-8feb-46da47a51c83" targetNamespace="http://schemas.microsoft.com/office/2006/metadata/properties" ma:root="true" ma:fieldsID="b89eff08c21070fcb8bbceb15cc7ead3" ns3:_="">
    <xsd:import namespace="33376fa5-4a30-4501-8feb-46da47a51c83"/>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376fa5-4a30-4501-8feb-46da47a51c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19F723-9E86-49E0-8B1D-C5DCAD4951B9}">
  <ds:schemaRefs>
    <ds:schemaRef ds:uri="33376fa5-4a30-4501-8feb-46da47a51c8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D7EF9AB-738F-48DF-BE34-43AA68660D3B}">
  <ds:schemaRefs>
    <ds:schemaRef ds:uri="http://schemas.microsoft.com/sharepoint/v3/contenttype/forms"/>
  </ds:schemaRefs>
</ds:datastoreItem>
</file>

<file path=customXml/itemProps3.xml><?xml version="1.0" encoding="utf-8"?>
<ds:datastoreItem xmlns:ds="http://schemas.openxmlformats.org/officeDocument/2006/customXml" ds:itemID="{C599CAB1-A930-4542-827C-3CEC378C253A}">
  <ds:schemaRefs>
    <ds:schemaRef ds:uri="33376fa5-4a30-4501-8feb-46da47a51c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40</Slides>
  <Notes>32</Notes>
  <HiddenSlides>0</HiddenSlides>
  <ScaleCrop>false</ScaleCrop>
  <HeadingPairs>
    <vt:vector size="4" baseType="variant">
      <vt:variant>
        <vt:lpstr>Theme</vt:lpstr>
      </vt:variant>
      <vt:variant>
        <vt:i4>2</vt:i4>
      </vt:variant>
      <vt:variant>
        <vt:lpstr>Slide Titles</vt:lpstr>
      </vt:variant>
      <vt:variant>
        <vt:i4>40</vt:i4>
      </vt:variant>
    </vt:vector>
  </HeadingPairs>
  <TitlesOfParts>
    <vt:vector size="42" baseType="lpstr">
      <vt:lpstr>2_Presentation slides</vt:lpstr>
      <vt:lpstr>Presentation slides</vt:lpstr>
      <vt:lpstr>https://github.com/Prithiv-0/Fullstack-project </vt:lpstr>
      <vt:lpstr>PowerPoint Presentation</vt:lpstr>
      <vt:lpstr>Abstract</vt:lpstr>
      <vt:lpstr>About the product </vt:lpstr>
      <vt:lpstr>About the product (Compared)</vt:lpstr>
      <vt:lpstr>Introduction</vt:lpstr>
      <vt:lpstr>Features</vt:lpstr>
      <vt:lpstr>Problem Statement </vt:lpstr>
      <vt:lpstr>Problem Statement </vt:lpstr>
      <vt:lpstr>  Target Users</vt:lpstr>
      <vt:lpstr>User &amp; Requirement Analysis</vt:lpstr>
      <vt:lpstr>Usage and Social Relevance</vt:lpstr>
      <vt:lpstr>Industry/Domain</vt:lpstr>
      <vt:lpstr>Project Overview</vt:lpstr>
      <vt:lpstr>User Questioned Addressed</vt:lpstr>
      <vt:lpstr>Role of AI </vt:lpstr>
      <vt:lpstr>AI Techniques Used</vt:lpstr>
      <vt:lpstr>Algorithms Used</vt:lpstr>
      <vt:lpstr>Data Collection Strategy</vt:lpstr>
      <vt:lpstr>Tech Stack</vt:lpstr>
      <vt:lpstr>Tech Stack Explanation</vt:lpstr>
      <vt:lpstr>Mobile Stack change </vt:lpstr>
      <vt:lpstr>List of companies working on the similar problem statement</vt:lpstr>
      <vt:lpstr>Architecture and System Flow </vt:lpstr>
      <vt:lpstr>Workflow:</vt:lpstr>
      <vt:lpstr>Functional Requirements</vt:lpstr>
      <vt:lpstr>Non-Functional Requirements</vt:lpstr>
      <vt:lpstr>Expected Output</vt:lpstr>
      <vt:lpstr>DevOps Solution</vt:lpstr>
      <vt:lpstr>Cloud Integration (Planned)</vt:lpstr>
      <vt:lpstr>White papers / Research</vt:lpstr>
      <vt:lpstr>Hackathon Referred </vt:lpstr>
      <vt:lpstr>Cost of the product </vt:lpstr>
      <vt:lpstr>Our product is unique - Reasons </vt:lpstr>
      <vt:lpstr>List of Modules with Explanation </vt:lpstr>
      <vt:lpstr>List of Modules with Explanation </vt:lpstr>
      <vt:lpstr>List of Reports with Purpose </vt:lpstr>
      <vt:lpstr>List of  forms for the application</vt:lpstr>
      <vt:lpstr>PowerPoint Presentation</vt:lpstr>
      <vt:lpstr>List of Tables for the application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Senthil</dc:creator>
  <cp:revision>176</cp:revision>
  <dcterms:modified xsi:type="dcterms:W3CDTF">2026-01-29T03:29:34Z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0x01010041E53E6EEA5B4546A8CC8BC534EFB692</vt:lpwstr>
  </property>
</Properties>
</file>